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8890">
            <a:solidFill>
              <a:srgbClr val="D7DE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DG INTERNS HUB • CYBERSECURITY INTERNSHIP  |  WEEK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7532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SAMYUKTHA S  •  DG/SEPTEMBER/CYBER/102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58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662"/>
                </a:solidFill>
              </a:rPr>
              <a:t>DG INTERNS 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06062"/>
                </a:solidFill>
              </a:rPr>
              <a:t>CYBERSECURITY INTERNSHIP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5179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662"/>
                </a:solidFill>
              </a:rPr>
              <a:t>WEEK 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3233"/>
                </a:solidFill>
              </a:rPr>
              <a:t>Advanced Networking,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03233"/>
                </a:solidFill>
              </a:rPr>
              <a:t>Analysis &amp; Security Concepts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1828800" cy="0"/>
          </a:xfrm>
          <a:prstGeom prst="line">
            <a:avLst/>
          </a:prstGeom>
          <a:noFill/>
          <a:ln w="25400">
            <a:solidFill>
              <a:srgbClr val="0E66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6062"/>
                </a:solidFill>
              </a:rPr>
              <a:t>Technical Learning &amp; Practical Summary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370332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3703320"/>
            <a:ext cx="64008" cy="1417320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3831336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STUDENT RECORD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48472" y="4087368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233"/>
                </a:solidFill>
              </a:rPr>
              <a:t>SAMYUKTHA 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233"/>
                </a:solidFill>
              </a:rPr>
              <a:t>Intern ID: DG/SEPTEMBER/CYBER/102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233"/>
                </a:solidFill>
              </a:rPr>
              <a:t>Track: Cybersecurity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9893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Wireshark  •  Nmap  •  Cisco Packet Tracer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01 / OVERVIEW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Week 2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From networking foundations to practical security analysis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64208"/>
            <a:ext cx="64008" cy="1298448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92224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OBJECTIVE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048256"/>
            <a:ext cx="5093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03233"/>
                </a:solidFill>
              </a:rPr>
              <a:t>Understand advanced networking concepts, analyze real network traffic, perform basic scanning, and learn security attack concepts safely.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080760" y="1664208"/>
            <a:ext cx="5532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664208"/>
            <a:ext cx="64008" cy="1298448"/>
          </a:xfrm>
          <a:prstGeom prst="rect">
            <a:avLst/>
          </a:prstGeom>
          <a:solidFill>
            <a:srgbClr val="1A7A75"/>
          </a:solidFill>
          <a:ln w="12700">
            <a:solidFill>
              <a:srgbClr val="1A7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792224"/>
            <a:ext cx="5276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TOOLS 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45352" y="2048256"/>
            <a:ext cx="5276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03233"/>
                </a:solidFill>
              </a:rPr>
              <a:t>Wireshark  •  Nmap  •  Cisco Packet Tracer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03233"/>
                </a:solidFill>
              </a:rPr>
              <a:t>Kali Linux  •  Browser / Windows networking environment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0E6662"/>
                </a:solidFill>
              </a:rPr>
              <a:t>LEARNING PROGRESSION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2514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850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62"/>
                </a:solidFill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3904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Ports &amp; Services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37560" y="3566160"/>
            <a:ext cx="2514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6850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62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47288" y="3904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Networking Devices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566160"/>
            <a:ext cx="2514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36850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62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3904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Security Concepts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15400" y="3566160"/>
            <a:ext cx="2514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5128" y="36850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62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25128" y="3904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Wireshark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590288"/>
            <a:ext cx="2514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7091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62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4928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Nmap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337560" y="4590288"/>
            <a:ext cx="25146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7091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62"/>
                </a:solidFill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47288" y="4928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Packet Tracer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26480" y="4590288"/>
            <a:ext cx="2514600" cy="713232"/>
          </a:xfrm>
          <a:prstGeom prst="roundRect">
            <a:avLst>
              <a:gd name="adj" fmla="val 6410"/>
            </a:avLst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7091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4928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Safe MITM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623560"/>
            <a:ext cx="64008" cy="566928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751576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LEARNING OUTCOME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" y="6007608"/>
            <a:ext cx="10808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233"/>
                </a:solidFill>
              </a:rPr>
              <a:t>I moved from memorizing networking terms to interpreting real packets, scan results, and simulated network behavior.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02 / THEORY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Ports, services &amp; network devices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The vocabulary that made the practical tasks easier to interpret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0E6662"/>
                </a:solidFill>
              </a:rPr>
              <a:t>PORTS &amp; SERVICES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233"/>
                </a:solidFill>
              </a:rPr>
              <a:t>IP address → identifies the host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03233"/>
                </a:solidFill>
              </a:rPr>
              <a:t>Port number → identifies the service / endpoint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62"/>
                </a:solidFill>
              </a:rPr>
              <a:t>Key examples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4754880" cy="448056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CBD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08152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22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307238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SSH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23160" y="30723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6062"/>
                </a:solidFill>
              </a:rPr>
              <a:t>secure remote login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4754880" cy="448056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CBD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935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53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584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DNS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23160" y="35844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6062"/>
                </a:solidFill>
              </a:rPr>
              <a:t>domain name resolution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4754880" cy="448056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CBD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10565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80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0965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HTTP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23160" y="4096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6062"/>
                </a:solidFill>
              </a:rPr>
              <a:t>web communication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07992"/>
            <a:ext cx="4754880" cy="448056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CBD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61772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443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608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HTTPS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23160" y="46085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6062"/>
                </a:solidFill>
              </a:rPr>
              <a:t>TLS-protected web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020056"/>
            <a:ext cx="4754880" cy="448056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CBD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12978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3389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51206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233"/>
                </a:solidFill>
              </a:rPr>
              <a:t>RDP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423160" y="51206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6062"/>
                </a:solidFill>
              </a:rPr>
              <a:t>remote desktop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1500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0E6662"/>
                </a:solidFill>
              </a:rPr>
              <a:t>DEVICES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715000" y="1810512"/>
            <a:ext cx="1828800" cy="1865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1810512"/>
            <a:ext cx="64008" cy="1865376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19385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ROUTER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79592" y="2194560"/>
            <a:ext cx="15727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233"/>
                </a:solidFill>
              </a:rPr>
              <a:t>Layer 3 device that connects different networks and forwards IP packets using routing decisions.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26680" y="1810512"/>
            <a:ext cx="1828800" cy="1865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1810512"/>
            <a:ext cx="64008" cy="1865376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91272" y="19385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SWITCH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91272" y="2194560"/>
            <a:ext cx="15727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233"/>
                </a:solidFill>
              </a:rPr>
              <a:t>Layer 2 device that connects devices on the same LAN and forwards Ethernet frames using MAC addresses.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738360" y="1810512"/>
            <a:ext cx="1828800" cy="1865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38360" y="1810512"/>
            <a:ext cx="64008" cy="1865376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02952" y="19385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FIREWALL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902952" y="2194560"/>
            <a:ext cx="15727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233"/>
                </a:solidFill>
              </a:rPr>
              <a:t>Security control that inspects traffic and allows or denies it according to defined rules.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15000" y="3977640"/>
            <a:ext cx="5852160" cy="1051560"/>
          </a:xfrm>
          <a:prstGeom prst="roundRect">
            <a:avLst>
              <a:gd name="adj" fmla="val 5217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15000" y="3977640"/>
            <a:ext cx="64008" cy="1051560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9592" y="4105656"/>
            <a:ext cx="5596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KEY MEMORY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79592" y="4361688"/>
            <a:ext cx="55961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03233"/>
                </a:solidFill>
              </a:rPr>
              <a:t>Switch connects. Router routes. Firewall controls.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5715000" y="5230368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These distinctions became practical in the Packet Tracer tasks: the switch handled same-LAN connectivity, while the router represented the path between networks.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03 / THEORY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Network security basics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Three concepts, three different security impacts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627632"/>
            <a:ext cx="64008" cy="1965960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755648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MITM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33558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Attacker positioned between communicating parties.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Focus: confidentiality / integrity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Prevention: HTTPS, VPN, trusted networks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279392" y="1627632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79392" y="1627632"/>
            <a:ext cx="64008" cy="1965960"/>
          </a:xfrm>
          <a:prstGeom prst="rect">
            <a:avLst/>
          </a:prstGeom>
          <a:solidFill>
            <a:srgbClr val="1A7A75"/>
          </a:solidFill>
          <a:ln w="12700">
            <a:solidFill>
              <a:srgbClr val="1A7A7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43984" y="1755648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DENIAL OF 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43984" y="2011680"/>
            <a:ext cx="33558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Traffic or resource exhaustion makes a service unavailable.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Focus: availability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Prevention: filtering, rate limiting, firewalls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10144" y="1627632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10144" y="1627632"/>
            <a:ext cx="64008" cy="1965960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74736" y="1755648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PACKET SNIFFING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4736" y="2011680"/>
            <a:ext cx="335584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Capturing and examining network packets in transit.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Focus: information exposure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233"/>
                </a:solidFill>
              </a:rPr>
              <a:t>Prevention: encryption, HTTPS, VPN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0E6662"/>
                </a:solidFill>
              </a:rPr>
              <a:t>CONCEPTUAL DISTINCTION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110185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CBD7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9808" y="447141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MITM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447141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233"/>
                </a:solidFill>
              </a:rPr>
              <a:t>Position in the path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47141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233"/>
                </a:solidFill>
              </a:rPr>
              <a:t>Confidentiality / Integrity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19472"/>
            <a:ext cx="11018520" cy="548640"/>
          </a:xfrm>
          <a:prstGeom prst="roundRect">
            <a:avLst>
              <a:gd name="adj" fmla="val 5000"/>
            </a:avLst>
          </a:prstGeom>
          <a:solidFill>
            <a:srgbClr val="F1F5F4"/>
          </a:solidFill>
          <a:ln w="7620">
            <a:solidFill>
              <a:srgbClr val="CBD7D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9808" y="50749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DoS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88920" y="507492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233"/>
                </a:solidFill>
              </a:rPr>
              <a:t>Resource exhaustion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507492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233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522976"/>
            <a:ext cx="110185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CBD7D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9808" y="56784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62"/>
                </a:solidFill>
              </a:rPr>
              <a:t>Packet Sniffing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88920" y="56784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233"/>
                </a:solidFill>
              </a:rPr>
              <a:t>Traffic observation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5678424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233"/>
                </a:solidFill>
              </a:rPr>
              <a:t>Confidentiality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907024"/>
            <a:ext cx="11018520" cy="438912"/>
          </a:xfrm>
          <a:prstGeom prst="roundRect">
            <a:avLst>
              <a:gd name="adj" fmla="val 12500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48640" y="5907024"/>
            <a:ext cx="64008" cy="438912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13232" y="5879592"/>
            <a:ext cx="10762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LEARNING REFLECTION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713232" y="6089904"/>
            <a:ext cx="10762488" cy="310896"/>
          </a:xfrm>
          <a:prstGeom prst="roundRect">
            <a:avLst/>
          </a:prstGeom>
          <a:solidFill>
            <a:srgbClr val="EFF7F6"/>
          </a:solidFill>
          <a:ln w="10160">
            <a:solidFill>
              <a:srgbClr val="BED8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36576" bIns="18288"/>
          <a:lstStyle/>
          <a:p>
            <a:pPr algn="l"/>
            <a:r>
              <a:rPr sz="1250">
                <a:solidFill>
                  <a:srgbClr val="203233"/>
                </a:solidFill>
                <a:latin typeface="Aptos"/>
              </a:rPr>
              <a:t>MITM is about position, packet sniffing is about observation, and DoS is about availability.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04 / PRACTICAL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Wireshark packet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Reading live traffic by protocol, address and port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0E6662"/>
                </a:solidFill>
              </a:rPr>
              <a:t>WORKFLOW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48640" y="17922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233"/>
                </a:solidFill>
              </a:rPr>
              <a:t>Select interface → generate traffic → filter DNS/TLS → interpret the packet fields</a:t>
            </a:r>
            <a:endParaRPr lang="en-US" sz="1600" dirty="0"/>
          </a:p>
        </p:txBody>
      </p:sp>
      <p:pic>
        <p:nvPicPr>
          <p:cNvPr id="8" name="Image 0" descr="/mnt/data/media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2848"/>
            <a:ext cx="361188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212848"/>
            <a:ext cx="361188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BD7D6"/>
            </a:solidFill>
            <a:prstDash val="solid"/>
          </a:ln>
        </p:spPr>
      </p:sp>
      <p:pic>
        <p:nvPicPr>
          <p:cNvPr id="10" name="Image 1" descr="/mnt/data/wireshark_step2_highre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212848"/>
            <a:ext cx="3611880" cy="1920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15968" y="2212848"/>
            <a:ext cx="361188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BD7D6"/>
            </a:solidFill>
            <a:prstDash val="solid"/>
          </a:ln>
        </p:spPr>
      </p:sp>
      <p:pic>
        <p:nvPicPr>
          <p:cNvPr id="12" name="Image 2" descr="/mnt/data/Screenshot 2026-09-11 1006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96" y="2212848"/>
            <a:ext cx="3493008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083296" y="2212848"/>
            <a:ext cx="3493008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BD7D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418795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662"/>
                </a:solidFill>
              </a:rPr>
              <a:t>Step 1 — Wi-Fi 2 selected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315968" y="418795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662"/>
                </a:solidFill>
              </a:rPr>
              <a:t>Step 2 — Live browsing traffic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083296" y="4187952"/>
            <a:ext cx="3493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662"/>
                </a:solidFill>
              </a:rPr>
              <a:t>Step 3 — DNS filter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590288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4590288"/>
            <a:ext cx="64008" cy="1188720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13232" y="4718304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DNS OBSERVATION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13232" y="497433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03233"/>
                </a:solidFill>
              </a:rPr>
              <a:t>UDP port 53; source 10.245.23.130 → destination 10.245.23.59. The packet was a DNS response from the browsing session.</a:t>
            </a:r>
            <a:endParaRPr lang="en-US" sz="1310" dirty="0"/>
          </a:p>
        </p:txBody>
      </p:sp>
      <p:sp>
        <p:nvSpPr>
          <p:cNvPr id="21" name="Shape 16"/>
          <p:cNvSpPr/>
          <p:nvPr/>
        </p:nvSpPr>
        <p:spPr>
          <a:xfrm>
            <a:off x="6062472" y="4590288"/>
            <a:ext cx="551383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62472" y="4590288"/>
            <a:ext cx="64008" cy="1188720"/>
          </a:xfrm>
          <a:prstGeom prst="rect">
            <a:avLst/>
          </a:prstGeom>
          <a:solidFill>
            <a:srgbClr val="1A7A75"/>
          </a:solidFill>
          <a:ln w="12700">
            <a:solidFill>
              <a:srgbClr val="1A7A7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27064" y="47183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TLS OBSERVATION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27064" y="497433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03233"/>
                </a:solidFill>
              </a:rPr>
              <a:t>TLSv1.2 Application Data on source port 443. IP metadata remained visible, while the protected payload was not readable as plain text.</a:t>
            </a:r>
            <a:endParaRPr lang="en-US" sz="1310" dirty="0"/>
          </a:p>
        </p:txBody>
      </p:sp>
      <p:sp>
        <p:nvSpPr>
          <p:cNvPr id="25" name="Text 20"/>
          <p:cNvSpPr/>
          <p:nvPr/>
        </p:nvSpPr>
        <p:spPr>
          <a:xfrm>
            <a:off x="548640" y="60167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06062"/>
                </a:solidFill>
              </a:rPr>
              <a:t>Learning outcome: filtering made the difference between “seeing traffic” and actually isolating the protocol evidence I needed.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05 / PRACTICAL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Nmap network scanning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Discovering exposed ports, services and version information</a:t>
            </a:r>
            <a:endParaRPr lang="en-US" sz="1250" dirty="0"/>
          </a:p>
        </p:txBody>
      </p:sp>
      <p:pic>
        <p:nvPicPr>
          <p:cNvPr id="6" name="Image 0" descr="/mnt/data/media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81228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664208"/>
            <a:ext cx="39319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5240" y="1664208"/>
            <a:ext cx="64008" cy="1078992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99832" y="179222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PORT STATES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99832" y="2048256"/>
            <a:ext cx="367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233"/>
                </a:solidFill>
              </a:rPr>
              <a:t>Open = service accepts connections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03233"/>
                </a:solidFill>
              </a:rPr>
              <a:t>Closed = no service listening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03233"/>
                </a:solidFill>
              </a:rPr>
              <a:t>Filtered = state cannot be determined</a:t>
            </a:r>
            <a:endParaRPr lang="en-US" sz="1270" dirty="0"/>
          </a:p>
        </p:txBody>
      </p:sp>
      <p:sp>
        <p:nvSpPr>
          <p:cNvPr id="11" name="Shape 8"/>
          <p:cNvSpPr/>
          <p:nvPr/>
        </p:nvSpPr>
        <p:spPr>
          <a:xfrm>
            <a:off x="7635240" y="2907792"/>
            <a:ext cx="3931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2907792"/>
            <a:ext cx="64008" cy="1207008"/>
          </a:xfrm>
          <a:prstGeom prst="rect">
            <a:avLst/>
          </a:prstGeom>
          <a:solidFill>
            <a:srgbClr val="1A7A75"/>
          </a:solidFill>
          <a:ln w="12700">
            <a:solidFill>
              <a:srgbClr val="1A7A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99832" y="303580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ACTUAL FINDINGS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99832" y="329184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233"/>
                </a:solidFill>
              </a:rPr>
              <a:t>22/tcp SSH • 80/tcp HTTP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03233"/>
                </a:solidFill>
              </a:rPr>
              <a:t>9929/tcp nping-echo • 31337/tcp Elite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03233"/>
                </a:solidFill>
              </a:rPr>
              <a:t>OpenSSH 6.6.1p1 • Apache 2.4.7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7635240" y="4279392"/>
            <a:ext cx="393192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4279392"/>
            <a:ext cx="64008" cy="1115568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9832" y="440740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WHY -T4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99832" y="466344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233"/>
                </a:solidFill>
              </a:rPr>
              <a:t>The default scan stalled on retransmissions. -T4 was used with the same authorized target so the practical could complete in a reasonable time.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7635240" y="5559552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5559552"/>
            <a:ext cx="64008" cy="685800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99832" y="568756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LEARNING REFLECTION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99832" y="594360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233"/>
                </a:solidFill>
              </a:rPr>
              <a:t>Version detection turns a port list into actionable service information.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06 / PRACTICAL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Packet Tracer LAN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Two PCs, one switch, one same-subnet connectivity test</a:t>
            </a:r>
            <a:endParaRPr lang="en-US" sz="1250" dirty="0"/>
          </a:p>
        </p:txBody>
      </p:sp>
      <p:pic>
        <p:nvPicPr>
          <p:cNvPr id="6" name="Image 0" descr="/mnt/data/309f5f09-75ab-4917-af77-3610306141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6675120" cy="3822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27632"/>
            <a:ext cx="6675120" cy="382219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BD7D6"/>
            </a:solidFill>
            <a:prstDash val="solid"/>
          </a:ln>
        </p:spPr>
      </p:sp>
      <p:pic>
        <p:nvPicPr>
          <p:cNvPr id="8" name="Image 1" descr="/mnt/data/83c96a7a-1926-4f53-b81e-2b4fb7d397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627632"/>
            <a:ext cx="4160520" cy="38221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88352" y="1627632"/>
            <a:ext cx="4160520" cy="382219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BD7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55961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0E6662"/>
                </a:solidFill>
              </a:rPr>
              <a:t>ADDRESSING PLAN</a:t>
            </a:r>
            <a:endParaRPr lang="en-US" sz="920" dirty="0"/>
          </a:p>
        </p:txBody>
      </p:sp>
      <p:sp>
        <p:nvSpPr>
          <p:cNvPr id="11" name="Text 7"/>
          <p:cNvSpPr/>
          <p:nvPr/>
        </p:nvSpPr>
        <p:spPr>
          <a:xfrm>
            <a:off x="548640" y="5870448"/>
            <a:ext cx="6629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3233"/>
                </a:solidFill>
              </a:rPr>
              <a:t>PC1  192.168.1.10 /24     •     PC2  192.168.1.11 /24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388352" y="5577840"/>
            <a:ext cx="4160520" cy="603504"/>
          </a:xfrm>
          <a:prstGeom prst="roundRect">
            <a:avLst>
              <a:gd name="adj" fmla="val 9091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88352" y="5577840"/>
            <a:ext cx="64008" cy="603504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552944" y="570585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VERIFICATION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52944" y="5961888"/>
            <a:ext cx="3904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3233"/>
                </a:solidFill>
              </a:rPr>
              <a:t>4 packets received • 0% loss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07 / PRACTICAL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Safe MITM concept simulation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Understanding attacker position without performing an actual attack</a:t>
            </a:r>
            <a:endParaRPr lang="en-US" sz="1250" dirty="0"/>
          </a:p>
        </p:txBody>
      </p:sp>
      <p:pic>
        <p:nvPicPr>
          <p:cNvPr id="6" name="Image 0" descr="/mnt/data/96e91274-1ec1-4aa6-a70f-29a1420bde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85216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45920"/>
            <a:ext cx="585216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BD7D6"/>
            </a:solidFill>
            <a:prstDash val="solid"/>
          </a:ln>
        </p:spPr>
      </p:sp>
      <p:pic>
        <p:nvPicPr>
          <p:cNvPr id="8" name="Image 1" descr="/mnt/data/5050b449-0981-42fb-a424-fec9f047f2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45920"/>
            <a:ext cx="4892040" cy="4343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56832" y="1645920"/>
            <a:ext cx="48920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BD7D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6144768"/>
            <a:ext cx="3520440" cy="420624"/>
          </a:xfrm>
          <a:prstGeom prst="roundRect">
            <a:avLst>
              <a:gd name="adj" fmla="val 13043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6144768"/>
            <a:ext cx="64008" cy="420624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6272784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NORMAL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" y="6528816"/>
            <a:ext cx="3264408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233"/>
                </a:solidFill>
              </a:rPr>
              <a:t>PC1 → Switch → Router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43400" y="6144768"/>
            <a:ext cx="3520440" cy="420624"/>
          </a:xfrm>
          <a:prstGeom prst="roundRect">
            <a:avLst>
              <a:gd name="adj" fmla="val 13043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43400" y="6144768"/>
            <a:ext cx="64008" cy="420624"/>
          </a:xfrm>
          <a:prstGeom prst="rect">
            <a:avLst/>
          </a:prstGeom>
          <a:solidFill>
            <a:srgbClr val="1A7A75"/>
          </a:solidFill>
          <a:ln w="12700">
            <a:solidFill>
              <a:srgbClr val="1A7A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07992" y="6272784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CONCEPTUAL MITM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07992" y="6528816"/>
            <a:ext cx="3264408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233"/>
                </a:solidFill>
              </a:rPr>
              <a:t>PC1 → Attacker → Router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38160" y="6144768"/>
            <a:ext cx="3410712" cy="420624"/>
          </a:xfrm>
          <a:prstGeom prst="roundRect">
            <a:avLst>
              <a:gd name="adj" fmla="val 13043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6144768"/>
            <a:ext cx="64008" cy="420624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02752" y="62727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SAFE BOUNDARY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302752" y="6528816"/>
            <a:ext cx="31546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3233"/>
                </a:solidFill>
              </a:rPr>
              <a:t>No poisoning / theft / interception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08 / SYNTHESIS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How the week connected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From networking vocabulary to practical security analysis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836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6662"/>
                </a:solidFill>
              </a:rPr>
              <a:t>Ports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06062"/>
                </a:solidFill>
              </a:rPr>
              <a:t>Identify services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246120" y="19933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66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93008" y="1737360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836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6662"/>
                </a:solidFill>
              </a:rPr>
              <a:t>Devices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06062"/>
                </a:solidFill>
              </a:rPr>
              <a:t>Understand the path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80760" y="19933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66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27648" y="1737360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836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6662"/>
                </a:solidFill>
              </a:rPr>
              <a:t>Security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06062"/>
                </a:solidFill>
              </a:rPr>
              <a:t>Understand threats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915400" y="19933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66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62288" y="1737360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8836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6662"/>
                </a:solidFill>
              </a:rPr>
              <a:t>Wireshark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81160" y="214884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06062"/>
                </a:solidFill>
              </a:rPr>
              <a:t>Observe traffic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58368" y="3154680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3009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6662"/>
                </a:solidFill>
              </a:rPr>
              <a:t>Nmap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356616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06062"/>
                </a:solidFill>
              </a:rPr>
              <a:t>Discover exposure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246120" y="34107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662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493008" y="3154680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3009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6662"/>
                </a:solidFill>
              </a:rPr>
              <a:t>Packet Tracer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11880" y="356616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06062"/>
                </a:solidFill>
              </a:rPr>
              <a:t>Build &amp; verify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080760" y="34107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662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27648" y="3154680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30098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MITM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46520" y="356616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Reason about position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58368" y="4736592"/>
            <a:ext cx="10881360" cy="1170432"/>
          </a:xfrm>
          <a:prstGeom prst="roundRect">
            <a:avLst>
              <a:gd name="adj" fmla="val 4688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4736592"/>
            <a:ext cx="64008" cy="1170432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864608"/>
            <a:ext cx="10625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INTEGRATED LEARNING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120640"/>
            <a:ext cx="10625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33"/>
                </a:solidFill>
              </a:rPr>
              <a:t>Week 2 moved my understanding from definitions to evidence: ports made scan results meaningful, device roles explained the Packet Tracer topologies, and the security concepts became concrete once I could observe real DNS/TLS traffic and identify exposed services.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" y="608990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03233"/>
                </a:solidFill>
              </a:rPr>
              <a:t>The practical value was not just running tools — it was interpreting what their output actually meant.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6662"/>
                </a:solidFill>
              </a:rPr>
              <a:t>09 / CONCLUSION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3233"/>
                </a:solidFill>
              </a:rPr>
              <a:t>Week 2 learning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109960" cy="0"/>
          </a:xfrm>
          <a:prstGeom prst="line">
            <a:avLst/>
          </a:prstGeom>
          <a:noFill/>
          <a:ln w="19050">
            <a:solidFill>
              <a:srgbClr val="0E66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A compact record of the skills and understanding I gained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10" kern="0" dirty="0">
                <a:solidFill>
                  <a:srgbClr val="0E6662"/>
                </a:solidFill>
              </a:rPr>
              <a:t>TECHNICAL SKILLS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48640" y="1956816"/>
            <a:ext cx="82296" cy="82296"/>
          </a:xfrm>
          <a:prstGeom prst="ellipse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74520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233"/>
                </a:solidFill>
              </a:rPr>
              <a:t>Identify common ports and their services.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82296" cy="82296"/>
          </a:xfrm>
          <a:prstGeom prst="ellipse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58568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233"/>
                </a:solidFill>
              </a:rPr>
              <a:t>Differentiate router, switch and firewall roles.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82296" cy="82296"/>
          </a:xfrm>
          <a:prstGeom prst="ellipse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42616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233"/>
                </a:solidFill>
              </a:rPr>
              <a:t>Explain MITM, DoS and packet sniffing conceptually.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2296" cy="82296"/>
          </a:xfrm>
          <a:prstGeom prst="ellipse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26664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233"/>
                </a:solidFill>
              </a:rPr>
              <a:t>Capture and filter DNS/TLS traffic in Wireshark.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82296" cy="82296"/>
          </a:xfrm>
          <a:prstGeom prst="ellipse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10712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233"/>
                </a:solidFill>
              </a:rPr>
              <a:t>Interpret Nmap port states and service/version results.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82296" cy="82296"/>
          </a:xfrm>
          <a:prstGeom prst="ellipse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794760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233"/>
                </a:solidFill>
              </a:rPr>
              <a:t>Build and verify LANs in Cisco Packet Tracer.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989320" y="1572768"/>
            <a:ext cx="5532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572768"/>
            <a:ext cx="64008" cy="1298448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700784"/>
            <a:ext cx="5276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CHALLENGE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53912" y="1956816"/>
            <a:ext cx="5276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33"/>
                </a:solidFill>
              </a:rPr>
              <a:t>The default Nmap scan took unusually long because of repeated retransmissions in my environment.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3063240"/>
            <a:ext cx="5532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3063240"/>
            <a:ext cx="64008" cy="1298448"/>
          </a:xfrm>
          <a:prstGeom prst="rect">
            <a:avLst/>
          </a:prstGeom>
          <a:solidFill>
            <a:srgbClr val="1A7A75"/>
          </a:solidFill>
          <a:ln w="12700">
            <a:solidFill>
              <a:srgbClr val="1A7A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3191256"/>
            <a:ext cx="5276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ADAPTATION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53912" y="3447288"/>
            <a:ext cx="5276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33"/>
                </a:solidFill>
              </a:rPr>
              <a:t>I confirmed the target was responding and used -T4 timing optimization on the same authorized target, while documenting the change transparently.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89320" y="4553712"/>
            <a:ext cx="5532120" cy="1298448"/>
          </a:xfrm>
          <a:prstGeom prst="roundRect">
            <a:avLst>
              <a:gd name="adj" fmla="val 4225"/>
            </a:avLst>
          </a:prstGeom>
          <a:solidFill>
            <a:srgbClr val="E8F0EF"/>
          </a:solidFill>
          <a:ln w="12700">
            <a:solidFill>
              <a:srgbClr val="CBD7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4553712"/>
            <a:ext cx="64008" cy="1298448"/>
          </a:xfrm>
          <a:prstGeom prst="rect">
            <a:avLst/>
          </a:prstGeom>
          <a:solidFill>
            <a:srgbClr val="0E6662"/>
          </a:solidFill>
          <a:ln w="12700">
            <a:solidFill>
              <a:srgbClr val="0E66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4681728"/>
            <a:ext cx="5276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6662"/>
                </a:solidFill>
              </a:rPr>
              <a:t>FINAL TAKEAWAY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53912" y="4937760"/>
            <a:ext cx="5276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233"/>
                </a:solidFill>
              </a:rPr>
              <a:t>Week 2 connected networking theory to visible evidence. The most valuable change was learning to interpret tool output rather than only knowing the command names.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0533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662"/>
                </a:solidFill>
              </a:rPr>
              <a:t>Tools used: Wireshark  •  Nmap  •  Cisco Packet Tracer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6053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06062"/>
                </a:solidFill>
              </a:rPr>
              <a:t>DG Interns Hub Cybersecurity Internship — Week 2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DG Interns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– Advanced Networking, Analysis &amp; Security Concepts</dc:title>
  <dc:subject>DG Interns Hub Cybersecurity Internship – Week 2</dc:subject>
  <dc:creator>Samyuktha S.</dc:creator>
  <cp:lastModifiedBy>Samyuktha S.</cp:lastModifiedBy>
  <cp:revision>1</cp:revision>
  <dcterms:created xsi:type="dcterms:W3CDTF">2026-09-14T08:10:30Z</dcterms:created>
  <dcterms:modified xsi:type="dcterms:W3CDTF">2026-09-14T08:10:30Z</dcterms:modified>
</cp:coreProperties>
</file>