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WEEK 3</a:t>
            </a:r>
          </a:p>
        </p:txBody>
      </p:sp>
      <p:sp>
        <p:nvSpPr>
          <p:cNvPr id="22" name="Oval 21"/>
          <p:cNvSpPr/>
          <p:nvPr/>
        </p:nvSpPr>
        <p:spPr>
          <a:xfrm>
            <a:off x="8732520" y="1051560"/>
            <a:ext cx="2194560" cy="2194560"/>
          </a:xfrm>
          <a:prstGeom prst="ellipse">
            <a:avLst/>
          </a:prstGeom>
          <a:noFill/>
          <a:ln w="29209">
            <a:solidFill>
              <a:srgbClr val="35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15984" y="1335024"/>
            <a:ext cx="1627632" cy="1627632"/>
          </a:xfrm>
          <a:prstGeom prst="ellipse">
            <a:avLst/>
          </a:prstGeom>
          <a:noFill/>
          <a:ln w="29209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9448" y="1618488"/>
            <a:ext cx="1060704" cy="1060704"/>
          </a:xfrm>
          <a:prstGeom prst="ellipse">
            <a:avLst/>
          </a:prstGeom>
          <a:noFill/>
          <a:ln w="29209">
            <a:solidFill>
              <a:srgbClr val="1CB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65208" y="1965960"/>
            <a:ext cx="347472" cy="347472"/>
          </a:xfrm>
          <a:prstGeom prst="ellipse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208" y="1984248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BFF"/>
                </a:solidFill>
                <a:latin typeface="Carlito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777240"/>
            <a:ext cx="7132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0FF"/>
                </a:solidFill>
                <a:latin typeface="Carlito"/>
              </a:rPr>
              <a:t>DG INTERNS 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1188720"/>
            <a:ext cx="7040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8FBFF"/>
                </a:solidFill>
                <a:latin typeface="Carlito"/>
              </a:rPr>
              <a:t>Week 3
Advanced Cybersecurity Practical 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331720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8E5F3"/>
                </a:solidFill>
                <a:latin typeface="Carlito"/>
              </a:rPr>
              <a:t>Network Security Assessment • Traffic Investigation • Hardening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154680"/>
            <a:ext cx="2926080" cy="91440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154680"/>
            <a:ext cx="64008" cy="914400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3282696"/>
            <a:ext cx="2651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AUTHORIZED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3657600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VMware VMnet1
192.168.162.0/24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3154680"/>
            <a:ext cx="2926080" cy="91440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60" y="3154680"/>
            <a:ext cx="64008" cy="914400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59352" y="3282696"/>
            <a:ext cx="2651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ANALYSIS VM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9352" y="3657600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Kali Linux
192.168.162.128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51960"/>
            <a:ext cx="2926080" cy="91440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251960"/>
            <a:ext cx="64008" cy="914400"/>
          </a:xfrm>
          <a:prstGeom prst="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4379976"/>
            <a:ext cx="2651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TARGET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" y="4754880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Ubuntu Server
192.168.162.130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94760" y="4251960"/>
            <a:ext cx="2926080" cy="91440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94760" y="4251960"/>
            <a:ext cx="64008" cy="914400"/>
          </a:xfrm>
          <a:prstGeom prst="rect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59352" y="4379976"/>
            <a:ext cx="2651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ASSESSMENT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9352" y="4754880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Nmap + Wireshark
Tasks 7–14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3657600"/>
            <a:ext cx="3657600" cy="182880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388620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0FF"/>
                </a:solidFill>
                <a:latin typeface="Carlito"/>
              </a:rPr>
              <a:t>ASSESSMENT HIGHLIGHTS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431596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BFF"/>
                </a:solidFill>
                <a:latin typeface="Carlito"/>
              </a:rPr>
              <a:t>7–14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4315968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7CA"/>
                </a:solidFill>
                <a:latin typeface="Carlito"/>
              </a:rPr>
              <a:t>tasks completed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65008" y="477316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D84"/>
                </a:solidFill>
                <a:latin typeface="Carlito"/>
              </a:rPr>
              <a:t>22/tcp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479145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7CA"/>
                </a:solidFill>
                <a:latin typeface="Carlito"/>
              </a:rPr>
              <a:t>SSH observed open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5008" y="519379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B49B"/>
                </a:solidFill>
                <a:latin typeface="Carlito"/>
              </a:rPr>
              <a:t>UFW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520293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7CA"/>
                </a:solidFill>
                <a:latin typeface="Carlito"/>
              </a:rPr>
              <a:t>enabled + verified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5989320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SAMYUKTHA S.  |  DG/SEPTEMBER/CYBER/102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01 •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01 •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7498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Carlito"/>
              </a:rPr>
              <a:t>Assessment 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2801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Carlito"/>
              </a:rPr>
              <a:t>A controlled workflow from discovery to validated hardening.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1874519"/>
            <a:ext cx="2487168" cy="224028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1874519"/>
            <a:ext cx="64008" cy="2240280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2002536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DISCOVER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20025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1CB49B"/>
                </a:solidFill>
                <a:latin typeface="Carlito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2377439"/>
            <a:ext cx="2167128" cy="1636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7CA"/>
                </a:solidFill>
                <a:latin typeface="Carlito"/>
              </a:rPr>
              <a:t>Live hosts + exposed ports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81528" y="2926080"/>
            <a:ext cx="256032" cy="0"/>
          </a:xfrm>
          <a:prstGeom prst="line">
            <a:avLst/>
          </a:prstGeom>
          <a:ln w="27940">
            <a:solidFill>
              <a:srgbClr val="1CB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383279" y="1874519"/>
            <a:ext cx="2487168" cy="224028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79" y="1874519"/>
            <a:ext cx="64008" cy="2240280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2002536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IDENTIFY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20025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35D0FF"/>
                </a:solidFill>
                <a:latin typeface="Carlito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2377439"/>
            <a:ext cx="2167128" cy="1636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7CA"/>
                </a:solidFill>
                <a:latin typeface="Carlito"/>
              </a:rPr>
              <a:t>Services, versions, OS clues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70448" y="2926080"/>
            <a:ext cx="256031" cy="0"/>
          </a:xfrm>
          <a:prstGeom prst="line">
            <a:avLst/>
          </a:prstGeom>
          <a:ln w="27940">
            <a:solidFill>
              <a:srgbClr val="35D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172200" y="1874519"/>
            <a:ext cx="2487168" cy="224028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1874519"/>
            <a:ext cx="64008" cy="2240280"/>
          </a:xfrm>
          <a:prstGeom prst="rect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2002536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INVESTIGATE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6368" y="20025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8C6DFF"/>
                </a:solidFill>
                <a:latin typeface="Carlito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2377439"/>
            <a:ext cx="2167128" cy="1636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7CA"/>
                </a:solidFill>
                <a:latin typeface="Carlito"/>
              </a:rPr>
              <a:t>Packets, flags, sessions, patterns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659368" y="2926080"/>
            <a:ext cx="256032" cy="0"/>
          </a:xfrm>
          <a:prstGeom prst="line">
            <a:avLst/>
          </a:prstGeom>
          <a:ln w="27940">
            <a:solidFill>
              <a:srgbClr val="8C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961119" y="1874519"/>
            <a:ext cx="2487168" cy="224028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1874519"/>
            <a:ext cx="64008" cy="2240280"/>
          </a:xfrm>
          <a:prstGeom prst="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5711" y="2002536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IMPROVE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5288" y="20025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46CD84"/>
                </a:solidFill>
                <a:latin typeface="Carlito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1" y="2377439"/>
            <a:ext cx="2167128" cy="1636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7CA"/>
                </a:solidFill>
                <a:latin typeface="Carlito"/>
              </a:rPr>
              <a:t>Harden + repeat the same test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4526280"/>
            <a:ext cx="11018520" cy="105156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736592"/>
            <a:ext cx="10561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5D0FF"/>
                </a:solidFill>
                <a:latin typeface="Carlito"/>
              </a:rPr>
              <a:t>Outcome: </a:t>
            </a:r>
            <a:r>
              <a:rPr sz="1500" b="0">
                <a:solidFill>
                  <a:srgbClr val="F8FBFF"/>
                </a:solidFill>
                <a:latin typeface="Carlito"/>
              </a:rPr>
              <a:t>a defensible technical story backed by real Nmap output, real packet captures, and measurable before/after hardening evidence.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" y="5806440"/>
            <a:ext cx="1645920" cy="310896"/>
          </a:xfrm>
          <a:prstGeom prst="round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824727"/>
            <a:ext cx="16459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427"/>
                </a:solidFill>
                <a:latin typeface="Carlito"/>
              </a:rPr>
              <a:t>AUTHORIZED SCOPE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06040" y="5806440"/>
            <a:ext cx="1828800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40" y="5824727"/>
            <a:ext cx="18288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427"/>
                </a:solidFill>
                <a:latin typeface="Carlito"/>
              </a:rPr>
              <a:t>EVIDENCE-BASED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0" y="5806440"/>
            <a:ext cx="1737360" cy="310896"/>
          </a:xfrm>
          <a:prstGeom prst="roundRect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5824727"/>
            <a:ext cx="17373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F"/>
                </a:solidFill>
                <a:latin typeface="Carlito"/>
              </a:rPr>
              <a:t>REPEATABLE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DG Interns Hub | Cybersecurity Internship | Week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02 • LAB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02 • LAB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7498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Carlito"/>
              </a:rPr>
              <a:t>Advanced network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2801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Carlito"/>
              </a:rPr>
              <a:t>Final assessment path: Windows host → VMware Workstation → isolated VMnet1 → Kali + Ubuntu.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1828800"/>
            <a:ext cx="11018520" cy="4160520"/>
          </a:xfrm>
          <a:prstGeom prst="roundRect">
            <a:avLst/>
          </a:prstGeom>
          <a:solidFill>
            <a:srgbClr val="0C1F39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2331720"/>
            <a:ext cx="2148840" cy="14630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2331720"/>
            <a:ext cx="64008" cy="14630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2459736"/>
            <a:ext cx="1874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WINDOWS HOST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2834639"/>
            <a:ext cx="182880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7CA"/>
                </a:solidFill>
                <a:latin typeface="Carlito"/>
              </a:rPr>
              <a:t>Physical laptop
VMware Workstation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2633472"/>
            <a:ext cx="4526280" cy="868680"/>
          </a:xfrm>
          <a:prstGeom prst="roundRect">
            <a:avLst/>
          </a:prstGeom>
          <a:solidFill>
            <a:srgbClr val="112B49"/>
          </a:solidFill>
          <a:ln>
            <a:solidFill>
              <a:srgbClr val="35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39" y="2770632"/>
            <a:ext cx="4069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BFF"/>
                </a:solidFill>
                <a:latin typeface="Carlito"/>
              </a:rPr>
              <a:t>VMware VMnet1 • Host-only network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3054096"/>
            <a:ext cx="4069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6B7CA"/>
                </a:solidFill>
                <a:latin typeface="Carlito"/>
              </a:rPr>
              <a:t>192.168.162.0/24  |  isolated assessment plane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3840480"/>
            <a:ext cx="2743200" cy="1417320"/>
          </a:xfrm>
          <a:prstGeom prst="roundRect">
            <a:avLst/>
          </a:prstGeom>
          <a:solidFill>
            <a:srgbClr val="0E213D"/>
          </a:solidFill>
          <a:ln>
            <a:solidFill>
              <a:srgbClr val="1CB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13632" y="4105656"/>
            <a:ext cx="502920" cy="502920"/>
          </a:xfrm>
          <a:prstGeom prst="ellipse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4123944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BFF"/>
                </a:solidFill>
                <a:latin typeface="Carlito"/>
              </a:rPr>
              <a:t>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3977639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BFF"/>
                </a:solidFill>
                <a:latin typeface="Carlito"/>
              </a:rPr>
              <a:t>KALI LINUX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29768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192.168.162.128/24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53712" y="4617720"/>
            <a:ext cx="914400" cy="310896"/>
          </a:xfrm>
          <a:prstGeom prst="round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4636007"/>
            <a:ext cx="9144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SCANNER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32120" y="4617720"/>
            <a:ext cx="731520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0" y="4636007"/>
            <a:ext cx="7315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WIRESHARK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58200" y="3840480"/>
            <a:ext cx="2743200" cy="1417320"/>
          </a:xfrm>
          <a:prstGeom prst="roundRect">
            <a:avLst/>
          </a:prstGeom>
          <a:solidFill>
            <a:srgbClr val="0E213D"/>
          </a:solidFill>
          <a:ln>
            <a:solidFill>
              <a:srgbClr val="F7B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14232" y="4105656"/>
            <a:ext cx="502920" cy="502920"/>
          </a:xfrm>
          <a:prstGeom prst="ellipse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14232" y="4123944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BFF"/>
                </a:solidFill>
                <a:latin typeface="Carlito"/>
              </a:rPr>
              <a:t>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4312" y="3977639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BFF"/>
                </a:solidFill>
                <a:latin typeface="Carlito"/>
              </a:rPr>
              <a:t>UBUNTU SERVER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2" y="429768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192.168.162.130/24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54312" y="4617720"/>
            <a:ext cx="914400" cy="310896"/>
          </a:xfrm>
          <a:prstGeom prst="round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54312" y="4636007"/>
            <a:ext cx="9144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TARGET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32720" y="4617720"/>
            <a:ext cx="658368" cy="310896"/>
          </a:xfrm>
          <a:prstGeom prst="round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0" y="4636007"/>
            <a:ext cx="65836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SSH : 22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971800" y="3063240"/>
            <a:ext cx="777239" cy="0"/>
          </a:xfrm>
          <a:prstGeom prst="line">
            <a:avLst/>
          </a:prstGeom>
          <a:ln w="381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989320" y="3502152"/>
            <a:ext cx="0" cy="338328"/>
          </a:xfrm>
          <a:prstGeom prst="line">
            <a:avLst/>
          </a:prstGeom>
          <a:ln w="31750">
            <a:solidFill>
              <a:srgbClr val="1CB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178040" y="3502152"/>
            <a:ext cx="2651760" cy="338328"/>
          </a:xfrm>
          <a:prstGeom prst="line">
            <a:avLst/>
          </a:prstGeom>
          <a:ln w="31750">
            <a:solidFill>
              <a:srgbClr val="F7B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6199632" y="3657600"/>
            <a:ext cx="1234440" cy="310896"/>
          </a:xfrm>
          <a:prstGeom prst="roundRect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99632" y="3675887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8FBFF"/>
                </a:solidFill>
                <a:latin typeface="Carlito"/>
              </a:rPr>
              <a:t>SCAN / CAPTURE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4406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LAB NOTES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71500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7CA"/>
                </a:solidFill>
                <a:latin typeface="Carlito"/>
              </a:rPr>
              <a:t>• No external targets intentionally scanned  •  Wireshark captured on Kali eth0  •  DNS capture used temporary NAT only; assessment path remained VMnet1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DG Interns Hub | Week 3 |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03 •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03 • TOOLS 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7498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Carlito"/>
              </a:rPr>
              <a:t>Toolchain for assessment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2801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Carlito"/>
              </a:rPr>
              <a:t>Each tool answered a different security question.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1975104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9339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F"/>
                </a:solidFill>
                <a:latin typeface="Carlito"/>
              </a:rPr>
              <a:t>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1828800"/>
            <a:ext cx="3035808" cy="12344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25880" y="1828800"/>
            <a:ext cx="64008" cy="1234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90472" y="1956816"/>
            <a:ext cx="2761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VMware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0472" y="2331720"/>
            <a:ext cx="2715768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Lab isolation + VM lifecycle</a:t>
            </a:r>
          </a:p>
        </p:txBody>
      </p:sp>
      <p:sp>
        <p:nvSpPr>
          <p:cNvPr id="31" name="Oval 30"/>
          <p:cNvSpPr/>
          <p:nvPr/>
        </p:nvSpPr>
        <p:spPr>
          <a:xfrm>
            <a:off x="4434840" y="1975104"/>
            <a:ext cx="502920" cy="502920"/>
          </a:xfrm>
          <a:prstGeom prst="ellipse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199339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F"/>
                </a:solidFill>
                <a:latin typeface="Carlito"/>
              </a:rPr>
              <a:t>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1828800"/>
            <a:ext cx="3035808" cy="12344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0" y="1828800"/>
            <a:ext cx="64008" cy="1234440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85232" y="1956816"/>
            <a:ext cx="2761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Kali Linux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85232" y="2331720"/>
            <a:ext cx="2715768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Assessment workstation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0" y="1975104"/>
            <a:ext cx="502920" cy="502920"/>
          </a:xfrm>
          <a:prstGeom prst="ellipse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99339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F"/>
                </a:solidFill>
                <a:latin typeface="Carlito"/>
              </a:rPr>
              <a:t>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1828800"/>
            <a:ext cx="3035808" cy="12344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400" y="1828800"/>
            <a:ext cx="64008" cy="1234440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9992" y="1956816"/>
            <a:ext cx="2761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Nmap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2331720"/>
            <a:ext cx="2715768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Discovery + enumeration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" y="3529584"/>
            <a:ext cx="502920" cy="502920"/>
          </a:xfrm>
          <a:prstGeom prst="ellipse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54787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F"/>
                </a:solidFill>
                <a:latin typeface="Carlito"/>
              </a:rPr>
              <a:t>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25880" y="3383280"/>
            <a:ext cx="3035808" cy="12344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325880" y="3383280"/>
            <a:ext cx="64008" cy="1234440"/>
          </a:xfrm>
          <a:prstGeom prst="rect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90472" y="3511296"/>
            <a:ext cx="2761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Wireshark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90472" y="3886200"/>
            <a:ext cx="2715768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Packet capture + analysis</a:t>
            </a:r>
          </a:p>
        </p:txBody>
      </p:sp>
      <p:sp>
        <p:nvSpPr>
          <p:cNvPr id="49" name="Oval 48"/>
          <p:cNvSpPr/>
          <p:nvPr/>
        </p:nvSpPr>
        <p:spPr>
          <a:xfrm>
            <a:off x="4434840" y="3529584"/>
            <a:ext cx="502920" cy="502920"/>
          </a:xfrm>
          <a:prstGeom prst="ellipse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354787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F"/>
                </a:solidFill>
                <a:latin typeface="Carlito"/>
              </a:rPr>
              <a:t>U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20640" y="3383280"/>
            <a:ext cx="3035808" cy="12344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20640" y="3383280"/>
            <a:ext cx="64008" cy="1234440"/>
          </a:xfrm>
          <a:prstGeom prst="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85232" y="3511296"/>
            <a:ext cx="2761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Ubuntu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5232" y="3886200"/>
            <a:ext cx="2715768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Authorized target</a:t>
            </a:r>
          </a:p>
        </p:txBody>
      </p:sp>
      <p:sp>
        <p:nvSpPr>
          <p:cNvPr id="55" name="Oval 54"/>
          <p:cNvSpPr/>
          <p:nvPr/>
        </p:nvSpPr>
        <p:spPr>
          <a:xfrm>
            <a:off x="8229600" y="3529584"/>
            <a:ext cx="502920" cy="502920"/>
          </a:xfrm>
          <a:prstGeom prst="ellipse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354787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F"/>
                </a:solidFill>
                <a:latin typeface="Carlito"/>
              </a:rPr>
              <a:t>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15400" y="3383280"/>
            <a:ext cx="3035808" cy="12344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15400" y="3383280"/>
            <a:ext cx="64008" cy="1234440"/>
          </a:xfrm>
          <a:prstGeom prst="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79992" y="3511296"/>
            <a:ext cx="2761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SSH / netcat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9992" y="3886200"/>
            <a:ext cx="2715768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Controlled traffic generation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523036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TOOLCHAIN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5559552"/>
            <a:ext cx="1463040" cy="31089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5577840"/>
            <a:ext cx="14630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427"/>
                </a:solidFill>
                <a:latin typeface="Carlito"/>
              </a:rPr>
              <a:t>VMware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148840" y="5715000"/>
            <a:ext cx="548640" cy="0"/>
          </a:xfrm>
          <a:prstGeom prst="line">
            <a:avLst/>
          </a:prstGeom>
          <a:ln w="19050">
            <a:solidFill>
              <a:srgbClr val="A6B7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2834640" y="5559552"/>
            <a:ext cx="1463040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34640" y="5577840"/>
            <a:ext cx="14630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427"/>
                </a:solidFill>
                <a:latin typeface="Carlito"/>
              </a:rPr>
              <a:t>Kali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297680" y="5715000"/>
            <a:ext cx="548640" cy="0"/>
          </a:xfrm>
          <a:prstGeom prst="line">
            <a:avLst/>
          </a:prstGeom>
          <a:ln w="19050">
            <a:solidFill>
              <a:srgbClr val="A6B7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4983480" y="5559552"/>
            <a:ext cx="1463040" cy="310896"/>
          </a:xfrm>
          <a:prstGeom prst="round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80" y="5577840"/>
            <a:ext cx="14630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427"/>
                </a:solidFill>
                <a:latin typeface="Carlito"/>
              </a:rPr>
              <a:t>Nmap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446520" y="5715000"/>
            <a:ext cx="548640" cy="0"/>
          </a:xfrm>
          <a:prstGeom prst="line">
            <a:avLst/>
          </a:prstGeom>
          <a:ln w="19050">
            <a:solidFill>
              <a:srgbClr val="A6B7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7132320" y="5559552"/>
            <a:ext cx="1463040" cy="310896"/>
          </a:xfrm>
          <a:prstGeom prst="roundRect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0" y="5577840"/>
            <a:ext cx="14630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F"/>
                </a:solidFill>
                <a:latin typeface="Carlito"/>
              </a:rPr>
              <a:t>Wireshark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595360" y="5715000"/>
            <a:ext cx="548640" cy="0"/>
          </a:xfrm>
          <a:prstGeom prst="line">
            <a:avLst/>
          </a:prstGeom>
          <a:ln w="19050">
            <a:solidFill>
              <a:srgbClr val="A6B7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9281160" y="5559552"/>
            <a:ext cx="1463040" cy="310896"/>
          </a:xfrm>
          <a:prstGeom prst="round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81160" y="5577840"/>
            <a:ext cx="14630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427"/>
                </a:solidFill>
                <a:latin typeface="Carlito"/>
              </a:rPr>
              <a:t>Ubuntu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DG Interns Hub | Cybersecurity Internship | Week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04 • NMAP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04 • NMAP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7498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Carlito"/>
              </a:rPr>
              <a:t>From discovery to advanced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2801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Carlito"/>
              </a:rPr>
              <a:t>The same target was progressively profiled with multiple Nmap techniques.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1783080"/>
            <a:ext cx="310896" cy="310896"/>
          </a:xfrm>
          <a:prstGeom prst="ellipse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801368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BFF"/>
                </a:solidFill>
                <a:latin typeface="Carlito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177393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BFF"/>
                </a:solidFill>
                <a:latin typeface="Carlito"/>
              </a:rPr>
              <a:t>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177393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7CA"/>
                </a:solidFill>
                <a:latin typeface="Carlito"/>
              </a:rPr>
              <a:t>-sn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2313432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331720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BFF"/>
                </a:solidFill>
                <a:latin typeface="Carlit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2304288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BFF"/>
                </a:solidFill>
                <a:latin typeface="Carlito"/>
              </a:rPr>
              <a:t>BASIC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2304288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7CA"/>
                </a:solidFill>
                <a:latin typeface="Carlito"/>
              </a:rPr>
              <a:t>default TCP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2843784"/>
            <a:ext cx="310896" cy="310896"/>
          </a:xfrm>
          <a:prstGeom prst="ellipse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862072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BFF"/>
                </a:solidFill>
                <a:latin typeface="Carlito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283464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BFF"/>
                </a:solidFill>
                <a:latin typeface="Carlito"/>
              </a:rPr>
              <a:t>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283464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7CA"/>
                </a:solidFill>
                <a:latin typeface="Carlito"/>
              </a:rPr>
              <a:t>-sV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3374135"/>
            <a:ext cx="310896" cy="310896"/>
          </a:xfrm>
          <a:prstGeom prst="ellipse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392423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BFF"/>
                </a:solidFill>
                <a:latin typeface="Carlito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3364991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BFF"/>
                </a:solidFill>
                <a:latin typeface="Carlito"/>
              </a:rPr>
              <a:t>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3364991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7CA"/>
                </a:solidFill>
                <a:latin typeface="Carlito"/>
              </a:rPr>
              <a:t>-O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" y="3904487"/>
            <a:ext cx="310896" cy="310896"/>
          </a:xfrm>
          <a:prstGeom prst="ellipse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922775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BFF"/>
                </a:solidFill>
                <a:latin typeface="Carlito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3895344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BFF"/>
                </a:solidFill>
                <a:latin typeface="Carlito"/>
              </a:rPr>
              <a:t>SYN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3895344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7CA"/>
                </a:solidFill>
                <a:latin typeface="Carlito"/>
              </a:rPr>
              <a:t>-sS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" y="4434840"/>
            <a:ext cx="310896" cy="310896"/>
          </a:xfrm>
          <a:prstGeom prst="ellipse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453127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BFF"/>
                </a:solidFill>
                <a:latin typeface="Carlito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" y="442569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BFF"/>
                </a:solidFill>
                <a:latin typeface="Carlito"/>
              </a:rPr>
              <a:t>UDP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442569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7CA"/>
                </a:solidFill>
                <a:latin typeface="Carlito"/>
              </a:rPr>
              <a:t>-sU top-20</a:t>
            </a:r>
          </a:p>
        </p:txBody>
      </p:sp>
      <p:sp>
        <p:nvSpPr>
          <p:cNvPr id="49" name="Oval 48"/>
          <p:cNvSpPr/>
          <p:nvPr/>
        </p:nvSpPr>
        <p:spPr>
          <a:xfrm>
            <a:off x="640080" y="4965192"/>
            <a:ext cx="310896" cy="310896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983479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BFF"/>
                </a:solidFill>
                <a:latin typeface="Carlito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4956048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BFF"/>
                </a:solidFill>
                <a:latin typeface="Carlito"/>
              </a:rPr>
              <a:t>NSE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1680" y="4956048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7CA"/>
                </a:solidFill>
                <a:latin typeface="Carlito"/>
              </a:rPr>
              <a:t>--script vuln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94760" y="1737360"/>
            <a:ext cx="7406640" cy="416052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69080" y="1993392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0FF"/>
                </a:solidFill>
                <a:latin typeface="Carlito"/>
              </a:rPr>
              <a:t>BASELINE FINDINGS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69080" y="2468880"/>
            <a:ext cx="1143000" cy="310896"/>
          </a:xfrm>
          <a:prstGeom prst="round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69080" y="2487168"/>
            <a:ext cx="11430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22/tcp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2478024"/>
            <a:ext cx="5303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BFF"/>
                </a:solidFill>
                <a:latin typeface="Carlito"/>
              </a:rPr>
              <a:t>OPEN • SSH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69080" y="3035808"/>
            <a:ext cx="1143000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69080" y="3054096"/>
            <a:ext cx="11430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OpenSSH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13248" y="3044952"/>
            <a:ext cx="5303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BFF"/>
                </a:solidFill>
                <a:latin typeface="Carlito"/>
              </a:rPr>
              <a:t>10.2p1 Ubuntu 2ubuntu3.5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69080" y="3602736"/>
            <a:ext cx="1143000" cy="310896"/>
          </a:xfrm>
          <a:prstGeom prst="roundRect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69080" y="3621024"/>
            <a:ext cx="11430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OS match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13248" y="3611880"/>
            <a:ext cx="5303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BFF"/>
                </a:solidFill>
                <a:latin typeface="Carlito"/>
              </a:rPr>
              <a:t>No exact match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9080" y="4169664"/>
            <a:ext cx="1143000" cy="310896"/>
          </a:xfrm>
          <a:prstGeom prst="round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69080" y="4187952"/>
            <a:ext cx="11430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UDP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13248" y="4178808"/>
            <a:ext cx="5303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BFF"/>
                </a:solidFill>
                <a:latin typeface="Carlito"/>
              </a:rPr>
              <a:t>No conclusive open port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69080" y="4736592"/>
            <a:ext cx="1143000" cy="310896"/>
          </a:xfrm>
          <a:prstGeom prst="round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69080" y="4754879"/>
            <a:ext cx="11430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NSE vuln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13248" y="4745736"/>
            <a:ext cx="5303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BFF"/>
                </a:solidFill>
                <a:latin typeface="Carlito"/>
              </a:rPr>
              <a:t>No finding reported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69080" y="5257800"/>
            <a:ext cx="6629400" cy="411480"/>
          </a:xfrm>
          <a:prstGeom prst="roundRect">
            <a:avLst/>
          </a:prstGeom>
          <a:solidFill>
            <a:srgbClr val="16304E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24528" y="5340096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8E5F3"/>
                </a:solidFill>
                <a:latin typeface="Carlito"/>
              </a:rPr>
              <a:t>Analyst rule: version detection ≠ vulnerability proof; open|filtered ≠ confirmed open.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DG Interns Hub | Cybersecurity Internship | Week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05 • WIRESHARK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05 • WIRESHARK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7498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Carlito"/>
              </a:rPr>
              <a:t>Packet-level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2801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Carlito"/>
              </a:rPr>
              <a:t>Captures were filtered and interpreted by protocol, flag and communication pair.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1783080"/>
            <a:ext cx="3474720" cy="233172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1-ICMP-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38528"/>
            <a:ext cx="3246120" cy="1874519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04671" y="3703320"/>
            <a:ext cx="1097280" cy="310896"/>
          </a:xfrm>
          <a:prstGeom prst="round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3721607"/>
            <a:ext cx="10972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ICMP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1783080"/>
            <a:ext cx="3474720" cy="233172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3-TCP-SSH-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1938528"/>
            <a:ext cx="3246120" cy="187451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599432" y="3703320"/>
            <a:ext cx="1097280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3721607"/>
            <a:ext cx="10972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TCP / SSH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1783080"/>
            <a:ext cx="3474720" cy="233172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05-ARP-Cap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7" y="1938528"/>
            <a:ext cx="3246120" cy="1874519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8394192" y="3703320"/>
            <a:ext cx="1097280" cy="310896"/>
          </a:xfrm>
          <a:prstGeom prst="round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721607"/>
            <a:ext cx="10972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ARP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526280"/>
            <a:ext cx="2286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CAPTURE COVERAGE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864608"/>
            <a:ext cx="1234440" cy="310896"/>
          </a:xfrm>
          <a:prstGeom prst="round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882896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ICMP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94560" y="4864608"/>
            <a:ext cx="1234440" cy="310896"/>
          </a:xfrm>
          <a:prstGeom prst="round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882896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DNS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03320" y="4864608"/>
            <a:ext cx="1234440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4882896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TCP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79" y="4864608"/>
            <a:ext cx="1234440" cy="31089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79" y="4882896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UDP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20840" y="4864608"/>
            <a:ext cx="1234440" cy="310896"/>
          </a:xfrm>
          <a:prstGeom prst="roundRect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4882896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8FBFF"/>
                </a:solidFill>
                <a:latin typeface="Carlito"/>
              </a:rPr>
              <a:t>ARP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4864608"/>
            <a:ext cx="1234440" cy="310896"/>
          </a:xfrm>
          <a:prstGeom prst="round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4882896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SYN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38359" y="4864608"/>
            <a:ext cx="1234440" cy="310896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8359" y="4882896"/>
            <a:ext cx="1234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RST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5394960"/>
            <a:ext cx="10972800" cy="68580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5800" y="5394960"/>
            <a:ext cx="64008" cy="685800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" y="552297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Observed behavior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5897880"/>
            <a:ext cx="10652760" cy="82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A6B7CA"/>
                </a:solidFill>
                <a:latin typeface="Carlito"/>
              </a:rPr>
              <a:t>4 ICMP requests/replies • SSH handshake + encrypted SSHv2 • UDP datagram to 9999 • ARP IP-to-MAC resolution • SYN/RST behavior • retransmission analysis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DG Interns Hub | Cybersecurity Internship | Week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06 •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06 • SECURITY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7498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Carlito"/>
              </a:rPr>
              <a:t>Evidence first, labels second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2801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Carlito"/>
              </a:rPr>
              <a:t>The assessment distinguished confirmed exposure, hardening gaps and positive controls.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1783080"/>
            <a:ext cx="5349240" cy="10058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1783080"/>
            <a:ext cx="64008" cy="100584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1911095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CONFIRMED EXPOSURE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1911095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EF5B5B"/>
                </a:solidFill>
                <a:latin typeface="Carlito"/>
              </a:rPr>
              <a:t>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2286000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TCP/22 reachable and identified as SSH.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783080"/>
            <a:ext cx="5349240" cy="10058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783080"/>
            <a:ext cx="64008" cy="1005840"/>
          </a:xfrm>
          <a:prstGeom prst="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1911095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HARDENING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1911095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7B23C"/>
                </a:solidFill>
                <a:latin typeface="Carlito"/>
              </a:rPr>
              <a:t>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286000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UFW was inactive in the baseline state.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017520"/>
            <a:ext cx="5349240" cy="10058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3017520"/>
            <a:ext cx="64008" cy="1005840"/>
          </a:xfrm>
          <a:prstGeom prst="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" y="3145536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HARDENING OPPORTUNITY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1455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7B23C"/>
                </a:solidFill>
                <a:latin typeface="Carlito"/>
              </a:rPr>
              <a:t>Gap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" y="3520439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PasswordAuthentication was enabled.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3017520"/>
            <a:ext cx="5349240" cy="10058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3017520"/>
            <a:ext cx="64008" cy="1005840"/>
          </a:xfrm>
          <a:prstGeom prst="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145536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POSITIVE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31455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46CD84"/>
                </a:solidFill>
                <a:latin typeface="Carlito"/>
              </a:rPr>
              <a:t>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3520439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PermitRootLogin was prohibited.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251960"/>
            <a:ext cx="5349240" cy="10058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4251960"/>
            <a:ext cx="64008" cy="1005840"/>
          </a:xfrm>
          <a:prstGeom prst="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" y="4379976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POSITIVE 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437997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46CD84"/>
                </a:solidFill>
                <a:latin typeface="Carlito"/>
              </a:rPr>
              <a:t>Control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1" y="4754880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Public-key authentication was enabled.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4251960"/>
            <a:ext cx="5349240" cy="10058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4251960"/>
            <a:ext cx="64008" cy="1005840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4379976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AUTOMATED CHECK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437997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1CB49B"/>
                </a:solidFill>
                <a:latin typeface="Carlito"/>
              </a:rPr>
              <a:t>Check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4754880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NSE vuln scan reported no finding.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559552"/>
            <a:ext cx="10881360" cy="566928"/>
          </a:xfrm>
          <a:prstGeom prst="roundRect">
            <a:avLst/>
          </a:prstGeom>
          <a:solidFill>
            <a:srgbClr val="112C48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696712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D8E5F3"/>
                </a:solidFill>
                <a:latin typeface="Carlito"/>
              </a:rPr>
              <a:t>No confirmed exploitable vulnerability was established from the evidence collected.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DG Interns Hub | Cybersecurity Internship | Week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07 •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07 • VULNERABILITY / RISK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7498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Carlito"/>
              </a:rPr>
              <a:t>Risk classification from observed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2801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Carlito"/>
              </a:rPr>
              <a:t>The lab exposed two actionable hardening gaps; no exploitable vulnerability was confirmed.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1783080"/>
            <a:ext cx="5577840" cy="416052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19933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0FF"/>
                </a:solidFill>
                <a:latin typeface="Carlito"/>
              </a:rPr>
              <a:t>RISK MATRIX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2487168"/>
            <a:ext cx="630936" cy="630936"/>
          </a:xfrm>
          <a:prstGeom prst="round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92808" y="2487168"/>
            <a:ext cx="630936" cy="630936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51176" y="2487168"/>
            <a:ext cx="630936" cy="630936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34440" y="3145536"/>
            <a:ext cx="630936" cy="630936"/>
          </a:xfrm>
          <a:prstGeom prst="round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892808" y="3145536"/>
            <a:ext cx="630936" cy="630936"/>
          </a:xfrm>
          <a:prstGeom prst="round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51176" y="3145536"/>
            <a:ext cx="630936" cy="630936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234440" y="3803904"/>
            <a:ext cx="630936" cy="630936"/>
          </a:xfrm>
          <a:prstGeom prst="round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92808" y="3803904"/>
            <a:ext cx="630936" cy="630936"/>
          </a:xfrm>
          <a:prstGeom prst="round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51176" y="3803904"/>
            <a:ext cx="630936" cy="630936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590288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7CA"/>
                </a:solidFill>
                <a:latin typeface="Carlito"/>
              </a:rPr>
              <a:t>Likelihood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2468880"/>
            <a:ext cx="411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6B7CA"/>
                </a:solidFill>
                <a:latin typeface="Carlito"/>
              </a:rPr>
              <a:t>Impact</a:t>
            </a:r>
          </a:p>
        </p:txBody>
      </p:sp>
      <p:sp>
        <p:nvSpPr>
          <p:cNvPr id="38" name="Oval 37"/>
          <p:cNvSpPr/>
          <p:nvPr/>
        </p:nvSpPr>
        <p:spPr>
          <a:xfrm>
            <a:off x="2834640" y="3154680"/>
            <a:ext cx="329184" cy="329184"/>
          </a:xfrm>
          <a:prstGeom prst="ellipse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317296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BFF"/>
                </a:solidFill>
                <a:latin typeface="Carlito"/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3136392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BFF"/>
                </a:solidFill>
                <a:latin typeface="Carlito"/>
              </a:rPr>
              <a:t>UFW inactive
Moderate hardening priority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1828800"/>
            <a:ext cx="4983480" cy="12344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37960" y="1828800"/>
            <a:ext cx="64008" cy="1234440"/>
          </a:xfrm>
          <a:prstGeom prst="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02552" y="1956816"/>
            <a:ext cx="4709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Finding 1 • Firewall inactive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195681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7B23C"/>
                </a:solidFill>
                <a:latin typeface="Carlito"/>
              </a:rPr>
              <a:t>MODERATE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2552" y="2331720"/>
            <a:ext cx="466344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Impact: broadens observable inbound surface. Evidence: UFW status inactive + Nmap baseline.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3246120"/>
            <a:ext cx="4983480" cy="12344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37960" y="3246120"/>
            <a:ext cx="64008" cy="1234440"/>
          </a:xfrm>
          <a:prstGeom prst="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02552" y="3374136"/>
            <a:ext cx="4709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Finding 2 • Password SSH auth enabled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78440" y="33741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7B23C"/>
                </a:solidFill>
                <a:latin typeface="Carlito"/>
              </a:rPr>
              <a:t>MODERATE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2552" y="3749039"/>
            <a:ext cx="466344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Impact: increases reliance on password authentication. Evidence: sshd configuration baseline.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37960" y="4663440"/>
            <a:ext cx="4983480" cy="109728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37960" y="4663440"/>
            <a:ext cx="64008" cy="1097280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02552" y="4791455"/>
            <a:ext cx="4709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Not a confirmed vulnerability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78440" y="4791455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1CB49B"/>
                </a:solidFill>
                <a:latin typeface="Carlito"/>
              </a:rPr>
              <a:t>EVIDENCE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02552" y="5166359"/>
            <a:ext cx="4663440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Nmap NSE returned no finding; exposed SSH is treated as attack surface, not proof of exploitability.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DG Interns Hub | Cybersecurity Internship | Week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08 • HARDENING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08 • SECURITY HARDENING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7498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Carlito"/>
              </a:rPr>
              <a:t>A controlled change with measurable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2801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Carlito"/>
              </a:rPr>
              <a:t>The change was applied only after the baseline was recorded.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1920240"/>
            <a:ext cx="530352" cy="530352"/>
          </a:xfrm>
          <a:prstGeom prst="ellipse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938528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BFF"/>
                </a:solidFill>
                <a:latin typeface="Carlito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1901952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BFF"/>
                </a:solidFill>
                <a:latin typeface="Carlito"/>
              </a:rPr>
              <a:t>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224028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UFW inactive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61872" y="2185416"/>
            <a:ext cx="2048256" cy="0"/>
          </a:xfrm>
          <a:prstGeom prst="line">
            <a:avLst/>
          </a:prstGeom>
          <a:ln w="21590">
            <a:solidFill>
              <a:srgbClr val="A6B7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520439" y="1920240"/>
            <a:ext cx="530352" cy="530352"/>
          </a:xfrm>
          <a:prstGeom prst="ellipse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39" y="1938528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BFF"/>
                </a:solidFill>
                <a:latin typeface="Carlito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3672" y="1901952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BFF"/>
                </a:solidFill>
                <a:latin typeface="Carlito"/>
              </a:rPr>
              <a:t>PROTECT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3672" y="224028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allow SSH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50791" y="2185416"/>
            <a:ext cx="2048257" cy="0"/>
          </a:xfrm>
          <a:prstGeom prst="line">
            <a:avLst/>
          </a:prstGeom>
          <a:ln w="21590">
            <a:solidFill>
              <a:srgbClr val="A6B7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309359" y="1920240"/>
            <a:ext cx="530352" cy="530352"/>
          </a:xfrm>
          <a:prstGeom prst="ellipse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1938528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BFF"/>
                </a:solidFill>
                <a:latin typeface="Carlito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1901952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BFF"/>
                </a:solidFill>
                <a:latin typeface="Carlito"/>
              </a:rPr>
              <a:t>ENABLE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224028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UFW active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39712" y="2185416"/>
            <a:ext cx="2048255" cy="0"/>
          </a:xfrm>
          <a:prstGeom prst="line">
            <a:avLst/>
          </a:prstGeom>
          <a:ln w="21590">
            <a:solidFill>
              <a:srgbClr val="A6B7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098280" y="1920240"/>
            <a:ext cx="530352" cy="530352"/>
          </a:xfrm>
          <a:prstGeom prst="ellipse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1938528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BFF"/>
                </a:solidFill>
                <a:latin typeface="Carlito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1" y="1901952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BFF"/>
                </a:solidFill>
                <a:latin typeface="Carlito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11511" y="2240280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repeat Nmap + SSH test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154680"/>
            <a:ext cx="5440680" cy="201168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34015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0FF"/>
                </a:solidFill>
                <a:latin typeface="Carlito"/>
              </a:rPr>
              <a:t>HARDENING COMMANDS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3822191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8E5F3"/>
                </a:solidFill>
                <a:latin typeface="Courier New"/>
              </a:rPr>
              <a:t>sudo ufw allow ssh
sudo ufw enable
sudo ufw status verbose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6520" y="3154680"/>
            <a:ext cx="4983480" cy="201168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34015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6CD84"/>
                </a:solidFill>
                <a:latin typeface="Carlito"/>
              </a:rPr>
              <a:t>VALIDATED OUTCOME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3822191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BFF"/>
                </a:solidFill>
                <a:latin typeface="Carlito"/>
              </a:rPr>
              <a:t>UFW active
SSH remained reachable
Non-SSH TCP ports became filtered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4754880"/>
            <a:ext cx="1645920" cy="310896"/>
          </a:xfrm>
          <a:prstGeom prst="round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773168"/>
            <a:ext cx="16459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427"/>
                </a:solidFill>
                <a:latin typeface="Carlito"/>
              </a:rPr>
              <a:t>MEASURED 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DG Interns Hub | Cybersecurity Internship | Week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09 • BEFORE / 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09 • BEFORE VS 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7498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Carlito"/>
              </a:rPr>
              <a:t>Same scan, different network behavior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2801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Carlito"/>
              </a:rPr>
              <a:t>The firewall changed how unsolicited TCP traffic appeared to the scanner.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1828800"/>
            <a:ext cx="5166360" cy="3977639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0574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7B23C"/>
                </a:solidFill>
                <a:latin typeface="Carlito"/>
              </a:rPr>
              <a:t>BEFORE UFW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2029968"/>
            <a:ext cx="914400" cy="310896"/>
          </a:xfrm>
          <a:prstGeom prst="roundRect">
            <a:avLst/>
          </a:prstGeom>
          <a:solidFill>
            <a:srgbClr val="F7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2048256"/>
            <a:ext cx="9144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INACTIVE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578608"/>
            <a:ext cx="4480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BFF"/>
                </a:solidFill>
                <a:latin typeface="Courier New"/>
              </a:rPr>
              <a:t>22/tcp  OPEN  SSH
999 ports  CLOSED
Response: RST / closed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005072"/>
            <a:ext cx="4526280" cy="822960"/>
          </a:xfrm>
          <a:prstGeom prst="roundRect">
            <a:avLst/>
          </a:prstGeom>
          <a:solidFill>
            <a:srgbClr val="21354C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242816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Scanner can distinguish closed ports because the target responds.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342900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35D0FF"/>
                </a:solidFill>
                <a:latin typeface="Carlito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1828800"/>
            <a:ext cx="5166360" cy="3977639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0574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6CD84"/>
                </a:solidFill>
                <a:latin typeface="Carlito"/>
              </a:rPr>
              <a:t>AFTER UFW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2029968"/>
            <a:ext cx="914400" cy="310896"/>
          </a:xfrm>
          <a:prstGeom prst="round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2048256"/>
            <a:ext cx="9144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71427"/>
                </a:solidFill>
                <a:latin typeface="Carlito"/>
              </a:rPr>
              <a:t>ACTIVE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578608"/>
            <a:ext cx="4480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BFF"/>
                </a:solidFill>
                <a:latin typeface="Courier New"/>
              </a:rPr>
              <a:t>22/tcp  OPEN  SSH
999 ports  FILTERED
Response: no-response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4005072"/>
            <a:ext cx="4526280" cy="822960"/>
          </a:xfrm>
          <a:prstGeom prst="roundRect">
            <a:avLst/>
          </a:prstGeom>
          <a:solidFill>
            <a:srgbClr val="174142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0568" y="4242816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8E5F3"/>
                </a:solidFill>
                <a:latin typeface="Carlito"/>
              </a:rPr>
              <a:t>Firewall filters unsolicited traffic while preserving authorized SSH.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6016752"/>
            <a:ext cx="3749039" cy="310896"/>
          </a:xfrm>
          <a:prstGeom prst="round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6035040"/>
            <a:ext cx="3749039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71427"/>
                </a:solidFill>
                <a:latin typeface="Carlito"/>
              </a:rPr>
              <a:t>MEASURABLE SECURITY IMPROVEMENT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DG Interns Hub | Cybersecurity Internship | Week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10 •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0FF"/>
                </a:solidFill>
                <a:latin typeface="Carlito"/>
              </a:rPr>
              <a:t>10 •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7498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BFF"/>
                </a:solidFill>
                <a:latin typeface="Carlito"/>
              </a:rPr>
              <a:t>Keep the control, reduce the attack surface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12801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Carlito"/>
              </a:rPr>
              <a:t>Practical next steps based on the lab evidence.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1801368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BFF"/>
                </a:solidFill>
                <a:latin typeface="Carlito"/>
              </a:rPr>
              <a:t>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99032" y="1764792"/>
            <a:ext cx="4800600" cy="1536192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99032" y="1764792"/>
            <a:ext cx="64008" cy="1536192"/>
          </a:xfrm>
          <a:prstGeom prst="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63624" y="1892807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Keep UFW enabled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63624" y="2267712"/>
            <a:ext cx="44805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Review and minimize allowed rules; avoid unnecessary inbound services.</a:t>
            </a:r>
          </a:p>
        </p:txBody>
      </p:sp>
      <p:sp>
        <p:nvSpPr>
          <p:cNvPr id="31" name="Oval 30"/>
          <p:cNvSpPr/>
          <p:nvPr/>
        </p:nvSpPr>
        <p:spPr>
          <a:xfrm>
            <a:off x="6309360" y="1783080"/>
            <a:ext cx="502920" cy="502920"/>
          </a:xfrm>
          <a:prstGeom prst="ellipse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801368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BFF"/>
                </a:solidFill>
                <a:latin typeface="Carlito"/>
              </a:rPr>
              <a:t>02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22592" y="1764792"/>
            <a:ext cx="4800600" cy="1536192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22592" y="1764792"/>
            <a:ext cx="64008" cy="153619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87184" y="1892807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Prefer SSH keys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7184" y="2267712"/>
            <a:ext cx="44805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Move toward key-based authentication and disable password authentication when operationally ready.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3794760"/>
            <a:ext cx="502920" cy="502920"/>
          </a:xfrm>
          <a:prstGeom prst="ellipse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813048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BFF"/>
                </a:solidFill>
                <a:latin typeface="Carlito"/>
              </a:rPr>
              <a:t>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99032" y="3776472"/>
            <a:ext cx="4800600" cy="1536192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99032" y="3776472"/>
            <a:ext cx="64008" cy="1536192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63624" y="3904488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Keep systems updated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63624" y="4279392"/>
            <a:ext cx="44805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Retain a repeatable patch check and record security update status.</a:t>
            </a:r>
          </a:p>
        </p:txBody>
      </p:sp>
      <p:sp>
        <p:nvSpPr>
          <p:cNvPr id="43" name="Oval 42"/>
          <p:cNvSpPr/>
          <p:nvPr/>
        </p:nvSpPr>
        <p:spPr>
          <a:xfrm>
            <a:off x="6309360" y="3794760"/>
            <a:ext cx="502920" cy="502920"/>
          </a:xfrm>
          <a:prstGeom prst="ellipse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813048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BFF"/>
                </a:solidFill>
                <a:latin typeface="Carlito"/>
              </a:rPr>
              <a:t>04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22592" y="3776472"/>
            <a:ext cx="4800600" cy="1536192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22592" y="3776472"/>
            <a:ext cx="64008" cy="1536192"/>
          </a:xfrm>
          <a:prstGeom prst="rect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87184" y="3904488"/>
            <a:ext cx="4526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Monitor the network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87184" y="4279392"/>
            <a:ext cx="448056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Use Wireshark / logs to investigate unexpected ports, retries and repeated connection attempts.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89788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7CA"/>
                </a:solidFill>
                <a:latin typeface="Carlito"/>
              </a:rPr>
              <a:t>PRIORITY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783080" y="5852160"/>
            <a:ext cx="1325880" cy="310896"/>
          </a:xfrm>
          <a:prstGeom prst="round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83080" y="5870448"/>
            <a:ext cx="13258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427"/>
                </a:solidFill>
                <a:latin typeface="Carlito"/>
              </a:rPr>
              <a:t>HIGH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46120" y="5852160"/>
            <a:ext cx="1508760" cy="310896"/>
          </a:xfrm>
          <a:prstGeom prst="round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46120" y="5870448"/>
            <a:ext cx="15087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71427"/>
                </a:solidFill>
                <a:latin typeface="Carlito"/>
              </a:rPr>
              <a:t>NEXT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92040" y="5852160"/>
            <a:ext cx="1965960" cy="310896"/>
          </a:xfrm>
          <a:prstGeom prst="roundRect">
            <a:avLst/>
          </a:prstGeom>
          <a:solidFill>
            <a:srgbClr val="8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92040" y="5870448"/>
            <a:ext cx="19659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F"/>
                </a:solidFill>
                <a:latin typeface="Carlito"/>
              </a:rPr>
              <a:t>CONTINUOUS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10528"/>
            <a:ext cx="6858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DG Interns Hub | Cybersecurity Internship | Week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74519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46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7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93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75720" y="685800"/>
            <a:ext cx="0" cy="566928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91440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" y="201168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" y="310896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5760" y="420624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" y="53035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" y="6217920"/>
            <a:ext cx="11475720" cy="0"/>
          </a:xfrm>
          <a:prstGeom prst="line">
            <a:avLst/>
          </a:prstGeom>
          <a:ln w="5715">
            <a:solidFill>
              <a:srgbClr val="163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75520" y="0"/>
            <a:ext cx="2286000" cy="73152"/>
          </a:xfrm>
          <a:prstGeom prst="rect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73152"/>
            <a:ext cx="1463040" cy="36576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7CA"/>
                </a:solidFill>
                <a:latin typeface="Carlito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4592"/>
            <a:ext cx="3108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5D0FF"/>
                </a:solidFill>
                <a:latin typeface="Carlito"/>
              </a:rPr>
              <a:t>11 • 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858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BFF"/>
                </a:solidFill>
                <a:latin typeface="Carlito"/>
              </a:rPr>
              <a:t>11 • 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4173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5D0FF"/>
                </a:solidFill>
                <a:latin typeface="Carlito"/>
              </a:rPr>
              <a:t>Observe → Validate → Interpret → Improve → Document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148840"/>
            <a:ext cx="2560320" cy="1078992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233172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CB49B"/>
                </a:solidFill>
                <a:latin typeface="Carlito"/>
              </a:rPr>
              <a:t>7–14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2724912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B7CA"/>
                </a:solidFill>
                <a:latin typeface="Carlito"/>
              </a:rPr>
              <a:t>tasks completed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2148840"/>
            <a:ext cx="2560320" cy="1078992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85032" y="233172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5D0FF"/>
                </a:solidFill>
                <a:latin typeface="Carlito"/>
              </a:rPr>
              <a:t>22/tcp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2724912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B7CA"/>
                </a:solidFill>
                <a:latin typeface="Carlito"/>
              </a:rPr>
              <a:t>SSH exposure identified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2148840"/>
            <a:ext cx="2560320" cy="1078992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233172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8C6DFF"/>
                </a:solidFill>
                <a:latin typeface="Carlito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2724912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B7CA"/>
                </a:solidFill>
                <a:latin typeface="Carlito"/>
              </a:rPr>
              <a:t>NSE findings reported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2148840"/>
            <a:ext cx="2560320" cy="1078992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233172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6CD84"/>
                </a:solidFill>
                <a:latin typeface="Carlito"/>
              </a:rPr>
              <a:t>UFW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2724912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B7CA"/>
                </a:solidFill>
                <a:latin typeface="Carlito"/>
              </a:rPr>
              <a:t>hardened + verified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703320"/>
            <a:ext cx="5349240" cy="12344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703320"/>
            <a:ext cx="64008" cy="1234440"/>
          </a:xfrm>
          <a:prstGeom prst="rect">
            <a:avLst/>
          </a:prstGeom>
          <a:solidFill>
            <a:srgbClr val="1C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831335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What the assessment established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4206240"/>
            <a:ext cx="502920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The target exposed SSH on TCP/22. Wireshark confirmed the packet behavior behind successful and rejected TCP connections. No exploitable vulnerability was confirmed from the collected evidence.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703320"/>
            <a:ext cx="5257800" cy="1234440"/>
          </a:xfrm>
          <a:prstGeom prst="roundRect">
            <a:avLst/>
          </a:prstGeom>
          <a:solidFill>
            <a:srgbClr val="0E213D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703320"/>
            <a:ext cx="64008" cy="1234440"/>
          </a:xfrm>
          <a:prstGeom prst="rect">
            <a:avLst/>
          </a:prstGeom>
          <a:solidFill>
            <a:srgbClr val="46C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1" y="3831335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BFF"/>
                </a:solidFill>
                <a:latin typeface="Carlito"/>
              </a:rPr>
              <a:t>What changed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8231" y="4206240"/>
            <a:ext cx="493776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Carlito"/>
              </a:rPr>
              <a:t>UFW moved from inactive to active, SSH remained reachable, and non-SSH TCP ports changed from closed to filtered in the repeat scan.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285232"/>
            <a:ext cx="10835640" cy="749808"/>
          </a:xfrm>
          <a:prstGeom prst="roundRect">
            <a:avLst/>
          </a:prstGeom>
          <a:solidFill>
            <a:srgbClr val="112B48"/>
          </a:solidFill>
          <a:ln>
            <a:solidFill>
              <a:srgbClr val="16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504688"/>
            <a:ext cx="10378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8E5F3"/>
                </a:solidFill>
                <a:latin typeface="Carlito"/>
              </a:rPr>
              <a:t>FINAL TAKEAWAY  •  The strongest result is not a scary finding; it is a measurable, validated improvement.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09360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Carlito"/>
              </a:rPr>
              <a:t>SAMYUKTHA S. | DG Interns Hub Cybersecurity Internship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6309360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35D0FF"/>
                </a:solidFill>
                <a:latin typeface="Carlito"/>
              </a:rPr>
              <a:t>Safer Networks, Stronger Tomorrow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