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3.png"/><Relationship Id="rId4" Type="http://schemas.openxmlformats.org/officeDocument/2006/relationships/image" Target="../media/image11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"/>
          </a:xfrm>
          <a:prstGeom prst="rect">
            <a:avLst/>
          </a:prstGeom>
          <a:solidFill>
            <a:srgbClr val="1F5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B625E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840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b="1">
                <a:solidFill>
                  <a:srgbClr val="5B625E"/>
                </a:solidFill>
                <a:latin typeface="Aptos"/>
              </a:defRPr>
            </a:pPr>
            <a:r>
              <a:t>DG INTERNS HUB  |  CYBERSECURITY INTERNSHIP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8580"/>
            <a:ext cx="164592" cy="6400800"/>
          </a:xfrm>
          <a:prstGeom prst="rect">
            <a:avLst/>
          </a:prstGeom>
          <a:solidFill>
            <a:srgbClr val="1F5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5B625E"/>
                </a:solidFill>
                <a:latin typeface="Aptos"/>
              </a:defRPr>
            </a:pPr>
            <a:r>
              <a:t>DG INTERNS 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74519"/>
            <a:ext cx="104241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1F5E3B"/>
                </a:solidFill>
                <a:latin typeface="Aptos Display"/>
              </a:defRPr>
            </a:pPr>
            <a:r>
              <a:t>WEEK 5 – VAPT TOOLS</a:t>
            </a:r>
            <a:br/>
            <a:r>
              <a:t>PRACTICAL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315468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191C1A"/>
                </a:solidFill>
                <a:latin typeface="Aptos"/>
              </a:defRPr>
            </a:pPr>
            <a:r>
              <a:t>Advanced Vulnerability Assessment &amp; Penetration Testing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88620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5B625E"/>
                </a:solidFill>
                <a:latin typeface="Aptos"/>
              </a:defRPr>
            </a:pPr>
            <a:r>
              <a:t>Cybersecurity Internship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874519"/>
            <a:ext cx="3154680" cy="2148840"/>
          </a:xfrm>
          <a:prstGeom prst="roundRect">
            <a:avLst/>
          </a:prstGeom>
          <a:solidFill>
            <a:srgbClr val="EAF4EC"/>
          </a:solidFill>
          <a:ln w="10160">
            <a:solidFill>
              <a:srgbClr val="B9C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2752" y="1993391"/>
            <a:ext cx="282549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1F5E3B"/>
                </a:solidFill>
                <a:latin typeface="Aptos"/>
              </a:defRPr>
            </a:pPr>
            <a:r>
              <a:t>Prepared by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2752" y="2350008"/>
            <a:ext cx="2825496" cy="1581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191C1A"/>
                </a:solidFill>
                <a:latin typeface="Aptos"/>
              </a:defRPr>
            </a:pPr>
            <a:r>
              <a:t>SAMYUKTHA S.</a:t>
            </a:r>
            <a:br/>
            <a:br/>
            <a:r>
              <a:t>Evidence-led VAPT workflow</a:t>
            </a:r>
            <a:br/>
            <a:r>
              <a:t>Nmap • Nikto • Burp Suite • curl • Apache2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566928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5B625E"/>
                </a:solidFill>
                <a:latin typeface="Aptos"/>
              </a:defRPr>
            </a:pPr>
            <a:r>
              <a:t>Official assignment target: testphp.vulnweb.com  |  Authorized practical extension: Ubuntu Apache 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"/>
          </a:xfrm>
          <a:prstGeom prst="rect">
            <a:avLst/>
          </a:prstGeom>
          <a:solidFill>
            <a:srgbClr val="1F5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5E3B"/>
                </a:solidFill>
                <a:latin typeface="Aptos Display"/>
              </a:defRPr>
            </a:pPr>
            <a:r>
              <a:t>Objective &amp; VAPT Methodology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914400" cy="50292"/>
          </a:xfrm>
          <a:prstGeom prst="rect">
            <a:avLst/>
          </a:prstGeom>
          <a:solidFill>
            <a:srgbClr val="3F7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B625E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3840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b="1">
                <a:solidFill>
                  <a:srgbClr val="5B625E"/>
                </a:solidFill>
                <a:latin typeface="Aptos"/>
              </a:defRPr>
            </a:pPr>
            <a:r>
              <a:t>DG INTERNS HUB  |  CYBERSECURITY INTERNSHIP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234440"/>
            <a:ext cx="3291840" cy="1920240"/>
          </a:xfrm>
          <a:prstGeom prst="roundRect">
            <a:avLst/>
          </a:prstGeom>
          <a:solidFill>
            <a:srgbClr val="EAF4EC"/>
          </a:solidFill>
          <a:ln w="10160">
            <a:solidFill>
              <a:srgbClr val="B9C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353312"/>
            <a:ext cx="296265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1F5E3B"/>
                </a:solidFill>
                <a:latin typeface="Aptos"/>
              </a:defRPr>
            </a:pPr>
            <a:r>
              <a:t>Objective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709928"/>
            <a:ext cx="2962656" cy="1353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191C1A"/>
                </a:solidFill>
                <a:latin typeface="Aptos"/>
              </a:defRPr>
            </a:pPr>
            <a:r>
              <a:t>Perform an advanced, evidence-driven VAPT workflow covering reconnaissance, web-server assessment, HTTP inspection, finding validation, hardening and post-remediation retesting.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1234440"/>
            <a:ext cx="7132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5E3B"/>
                </a:solidFill>
                <a:latin typeface="Aptos"/>
              </a:defRPr>
            </a:pPr>
            <a:r>
              <a:t>Workflow used in the practical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737360"/>
            <a:ext cx="1104900" cy="621792"/>
          </a:xfrm>
          <a:prstGeom prst="roundRect">
            <a:avLst/>
          </a:prstGeom>
          <a:solidFill>
            <a:srgbClr val="F6FAF7"/>
          </a:solidFill>
          <a:ln w="12700">
            <a:solidFill>
              <a:srgbClr val="3F7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88536" y="1837943"/>
            <a:ext cx="1031747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1F5E3B"/>
                </a:solidFill>
                <a:latin typeface="Aptos"/>
              </a:defRPr>
            </a:pPr>
            <a:r>
              <a:t>Nmap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56860" y="1810512"/>
            <a:ext cx="91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3F7D5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48300" y="1737360"/>
            <a:ext cx="1104900" cy="621792"/>
          </a:xfrm>
          <a:prstGeom prst="roundRect">
            <a:avLst/>
          </a:prstGeom>
          <a:solidFill>
            <a:srgbClr val="EAF4EC"/>
          </a:solidFill>
          <a:ln w="12700">
            <a:solidFill>
              <a:srgbClr val="3F7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4876" y="1837943"/>
            <a:ext cx="1031747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1F5E3B"/>
                </a:solidFill>
                <a:latin typeface="Aptos"/>
              </a:defRPr>
            </a:pPr>
            <a:r>
              <a:t>Nikto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3200" y="1810512"/>
            <a:ext cx="91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3F7D5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44640" y="1737360"/>
            <a:ext cx="1104900" cy="621792"/>
          </a:xfrm>
          <a:prstGeom prst="roundRect">
            <a:avLst/>
          </a:prstGeom>
          <a:solidFill>
            <a:srgbClr val="EAF4EC"/>
          </a:solidFill>
          <a:ln w="12700">
            <a:solidFill>
              <a:srgbClr val="3F7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81216" y="1837943"/>
            <a:ext cx="1031747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1F5E3B"/>
                </a:solidFill>
                <a:latin typeface="Aptos"/>
              </a:defRPr>
            </a:pPr>
            <a:r>
              <a:t>Burp Suite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49540" y="1810512"/>
            <a:ext cx="91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3F7D5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40979" y="1737360"/>
            <a:ext cx="1104900" cy="621792"/>
          </a:xfrm>
          <a:prstGeom prst="roundRect">
            <a:avLst/>
          </a:prstGeom>
          <a:solidFill>
            <a:srgbClr val="EAF4EC"/>
          </a:solidFill>
          <a:ln w="12700">
            <a:solidFill>
              <a:srgbClr val="3F7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77555" y="1837943"/>
            <a:ext cx="1031747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1F5E3B"/>
                </a:solidFill>
                <a:latin typeface="Aptos"/>
              </a:defRPr>
            </a:pPr>
            <a:r>
              <a:t>Validation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45880" y="1810512"/>
            <a:ext cx="91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3F7D5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37320" y="1737360"/>
            <a:ext cx="1104900" cy="621792"/>
          </a:xfrm>
          <a:prstGeom prst="roundRect">
            <a:avLst/>
          </a:prstGeom>
          <a:solidFill>
            <a:srgbClr val="EAF4EC"/>
          </a:solidFill>
          <a:ln w="12700">
            <a:solidFill>
              <a:srgbClr val="3F7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73895" y="1837943"/>
            <a:ext cx="1031747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1F5E3B"/>
                </a:solidFill>
                <a:latin typeface="Aptos"/>
              </a:defRPr>
            </a:pPr>
            <a:r>
              <a:t>Hardening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42220" y="1810512"/>
            <a:ext cx="91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3F7D5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33660" y="1737360"/>
            <a:ext cx="1104900" cy="621792"/>
          </a:xfrm>
          <a:prstGeom prst="roundRect">
            <a:avLst/>
          </a:prstGeom>
          <a:solidFill>
            <a:srgbClr val="F6FAF7"/>
          </a:solidFill>
          <a:ln w="12700">
            <a:solidFill>
              <a:srgbClr val="3F7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70235" y="1837943"/>
            <a:ext cx="1031747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1F5E3B"/>
                </a:solidFill>
                <a:latin typeface="Aptos"/>
              </a:defRPr>
            </a:pPr>
            <a:r>
              <a:t>Retesting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3520440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5E3B"/>
                </a:solidFill>
                <a:latin typeface="Aptos"/>
              </a:defRPr>
            </a:pPr>
            <a:r>
              <a:t>Assessment principle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3886200"/>
            <a:ext cx="333756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191C1A"/>
                </a:solidFill>
                <a:latin typeface="Aptos"/>
              </a:defRPr>
            </a:pPr>
            <a:r>
              <a:t>A scanner alert is not automatically a confirmed vulnerability. Each candidate observation was reproduced or validated with direct evidence before being treated as a finding.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3520440"/>
            <a:ext cx="6949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5E3B"/>
                </a:solidFill>
                <a:latin typeface="Aptos"/>
              </a:defRPr>
            </a:pPr>
            <a:r>
              <a:t>Scope separation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3886200"/>
            <a:ext cx="6675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50">
                <a:solidFill>
                  <a:srgbClr val="191C1A"/>
                </a:solidFill>
                <a:latin typeface="Aptos"/>
              </a:defRPr>
            </a:pPr>
            <a:r>
              <a:t>• Official target: testphp.vulnweb.com</a:t>
            </a:r>
          </a:p>
          <a:p>
            <a:pPr>
              <a:spcAft>
                <a:spcPts val="700"/>
              </a:spcAft>
              <a:defRPr sz="1350">
                <a:solidFill>
                  <a:srgbClr val="191C1A"/>
                </a:solidFill>
                <a:latin typeface="Aptos"/>
              </a:defRPr>
            </a:pPr>
            <a:r>
              <a:t>• Authorized practical extension: Ubuntu Apache lab — 192.168.162.131</a:t>
            </a:r>
          </a:p>
          <a:p>
            <a:pPr>
              <a:spcAft>
                <a:spcPts val="700"/>
              </a:spcAft>
              <a:defRPr sz="1350">
                <a:solidFill>
                  <a:srgbClr val="191C1A"/>
                </a:solidFill>
                <a:latin typeface="Aptos"/>
              </a:defRPr>
            </a:pPr>
            <a:r>
              <a:t>• Connectivity limitations were documented rather than interpreted as a security result.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"/>
          </a:xfrm>
          <a:prstGeom prst="rect">
            <a:avLst/>
          </a:prstGeom>
          <a:solidFill>
            <a:srgbClr val="1F5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5E3B"/>
                </a:solidFill>
                <a:latin typeface="Aptos Display"/>
              </a:defRPr>
            </a:pPr>
            <a:r>
              <a:t>Nmap Assessment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914400" cy="50292"/>
          </a:xfrm>
          <a:prstGeom prst="rect">
            <a:avLst/>
          </a:prstGeom>
          <a:solidFill>
            <a:srgbClr val="3F7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B625E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3840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b="1">
                <a:solidFill>
                  <a:srgbClr val="5B625E"/>
                </a:solidFill>
                <a:latin typeface="Aptos"/>
              </a:defRPr>
            </a:pPr>
            <a:r>
              <a:t>DG INTERNS HUB  |  CYBERSECURITY INTERNSHIP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078992"/>
            <a:ext cx="2148840" cy="292608"/>
          </a:xfrm>
          <a:prstGeom prst="roundRect">
            <a:avLst/>
          </a:prstGeom>
          <a:solidFill>
            <a:srgbClr val="EA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097280"/>
            <a:ext cx="21488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1F5E3B"/>
                </a:solidFill>
                <a:latin typeface="Aptos"/>
              </a:defRPr>
            </a:pPr>
            <a:r>
              <a:t>OFFICIAL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481328"/>
            <a:ext cx="37033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91C1A"/>
                </a:solidFill>
                <a:latin typeface="Aptos"/>
              </a:defRPr>
            </a:pPr>
            <a:r>
              <a:t>testphp.vulnweb.com → 44.228.249.3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965960"/>
            <a:ext cx="36576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50">
                <a:solidFill>
                  <a:srgbClr val="191C1A"/>
                </a:solidFill>
                <a:latin typeface="Aptos"/>
              </a:defRPr>
            </a:pPr>
            <a:r>
              <a:t>• SYN scan: filtered / no-response behavior</a:t>
            </a:r>
          </a:p>
          <a:p>
            <a:pPr>
              <a:spcAft>
                <a:spcPts val="700"/>
              </a:spcAft>
              <a:defRPr sz="1250">
                <a:solidFill>
                  <a:srgbClr val="191C1A"/>
                </a:solidFill>
                <a:latin typeface="Aptos"/>
              </a:defRPr>
            </a:pPr>
            <a:r>
              <a:t>• Service/version scan: no responsive service established</a:t>
            </a:r>
          </a:p>
          <a:p>
            <a:pPr>
              <a:spcAft>
                <a:spcPts val="700"/>
              </a:spcAft>
              <a:defRPr sz="1250">
                <a:solidFill>
                  <a:srgbClr val="191C1A"/>
                </a:solidFill>
                <a:latin typeface="Aptos"/>
              </a:defRPr>
            </a:pPr>
            <a:r>
              <a:t>• Advanced scan: filtered ports / no reliable service exposure</a:t>
            </a:r>
          </a:p>
          <a:p>
            <a:pPr>
              <a:spcAft>
                <a:spcPts val="700"/>
              </a:spcAft>
              <a:defRPr sz="1250">
                <a:solidFill>
                  <a:srgbClr val="191C1A"/>
                </a:solidFill>
                <a:latin typeface="Aptos"/>
              </a:defRPr>
            </a:pPr>
            <a:r>
              <a:t>• Full TCP scan: all 65,535 ports observed filtered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4114800"/>
            <a:ext cx="3657600" cy="1325880"/>
          </a:xfrm>
          <a:prstGeom prst="roundRect">
            <a:avLst/>
          </a:prstGeom>
          <a:solidFill>
            <a:srgbClr val="EAF4EC"/>
          </a:solidFill>
          <a:ln w="10160">
            <a:solidFill>
              <a:srgbClr val="B9C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4233672"/>
            <a:ext cx="332841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1F5E3B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4590288"/>
            <a:ext cx="3328416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91C1A"/>
                </a:solidFill>
                <a:latin typeface="Aptos"/>
              </a:defRPr>
            </a:pPr>
            <a:r>
              <a:t>Connectivity prevented service-level vulnerability validation. No vulnerability claim was made from the scan output.</a:t>
            </a:r>
          </a:p>
        </p:txBody>
      </p:sp>
      <p:pic>
        <p:nvPicPr>
          <p:cNvPr id="14" name="Picture 13" descr="02-Nmap-SYN-Bas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8684" y="1234440"/>
            <a:ext cx="2535631" cy="214884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4526280" y="1234440"/>
            <a:ext cx="3520440" cy="2148840"/>
          </a:xfrm>
          <a:prstGeom prst="rect">
            <a:avLst/>
          </a:prstGeom>
          <a:noFill/>
          <a:ln w="8890">
            <a:solidFill>
              <a:srgbClr val="B9C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3410712"/>
            <a:ext cx="3520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5B625E"/>
                </a:solidFill>
                <a:latin typeface="Aptos"/>
              </a:defRPr>
            </a:pPr>
            <a:r>
              <a:t>Figure — Official-target Nmap SYN scan</a:t>
            </a:r>
          </a:p>
        </p:txBody>
      </p:sp>
      <p:pic>
        <p:nvPicPr>
          <p:cNvPr id="17" name="Picture 16" descr="05-Nmap-Full-TC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9951" y="1234440"/>
            <a:ext cx="2756855" cy="214884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8183879" y="1234440"/>
            <a:ext cx="3429000" cy="2148840"/>
          </a:xfrm>
          <a:prstGeom prst="rect">
            <a:avLst/>
          </a:prstGeom>
          <a:noFill/>
          <a:ln w="8890">
            <a:solidFill>
              <a:srgbClr val="B9C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83879" y="3410712"/>
            <a:ext cx="3429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5B625E"/>
                </a:solidFill>
                <a:latin typeface="Aptos"/>
              </a:defRPr>
            </a:pPr>
            <a:r>
              <a:t>Figure — Full TCP enumeration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069080"/>
            <a:ext cx="6903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F5E3B"/>
                </a:solidFill>
                <a:latin typeface="Aptos"/>
              </a:defRPr>
            </a:pPr>
            <a:r>
              <a:t>Assessment sequence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407408"/>
            <a:ext cx="66751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91C1A"/>
                </a:solidFill>
                <a:latin typeface="Courier New"/>
              </a:defRPr>
            </a:pPr>
            <a:r>
              <a:t>nmap -sS  →  nmap -sV  →  nmap -A  →  full TCP enumeration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0" y="5257800"/>
            <a:ext cx="6903720" cy="749808"/>
          </a:xfrm>
          <a:prstGeom prst="roundRect">
            <a:avLst/>
          </a:prstGeom>
          <a:solidFill>
            <a:srgbClr val="F6FAF7"/>
          </a:solidFill>
          <a:ln w="10160">
            <a:solidFill>
              <a:srgbClr val="B9C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36592" y="5376672"/>
            <a:ext cx="657453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1F5E3B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36592" y="5733288"/>
            <a:ext cx="6574536" cy="1828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20" b="0">
                <a:solidFill>
                  <a:srgbClr val="191C1A"/>
                </a:solidFill>
                <a:latin typeface="Aptos"/>
              </a:defRPr>
            </a:pPr>
            <a:r>
              <a:t>Reconnaissance completed; external target remained unreachable at the service layer.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"/>
          </a:xfrm>
          <a:prstGeom prst="rect">
            <a:avLst/>
          </a:prstGeom>
          <a:solidFill>
            <a:srgbClr val="1F5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5E3B"/>
                </a:solidFill>
                <a:latin typeface="Aptos Display"/>
              </a:defRPr>
            </a:pPr>
            <a:r>
              <a:t>Nikto &amp; Burp Suite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914400" cy="50292"/>
          </a:xfrm>
          <a:prstGeom prst="rect">
            <a:avLst/>
          </a:prstGeom>
          <a:solidFill>
            <a:srgbClr val="3F7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B625E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3840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b="1">
                <a:solidFill>
                  <a:srgbClr val="5B625E"/>
                </a:solidFill>
                <a:latin typeface="Aptos"/>
              </a:defRPr>
            </a:pPr>
            <a:r>
              <a:t>DG INTERNS HUB  |  CYBERSECURITY INTERNSHIP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069848"/>
            <a:ext cx="2011680" cy="292608"/>
          </a:xfrm>
          <a:prstGeom prst="roundRect">
            <a:avLst/>
          </a:prstGeom>
          <a:solidFill>
            <a:srgbClr val="EA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088136"/>
            <a:ext cx="20116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1F5E3B"/>
                </a:solidFill>
                <a:latin typeface="Aptos"/>
              </a:defRPr>
            </a:pPr>
            <a:r>
              <a:t>CONNECTIVITY LIMITATION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481328"/>
            <a:ext cx="5394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91C1A"/>
                </a:solidFill>
                <a:latin typeface="Aptos"/>
              </a:defRPr>
            </a:pPr>
            <a:r>
              <a:t>Nikto: Unable to connect to testphp.vulnweb.com:80</a:t>
            </a:r>
          </a:p>
        </p:txBody>
      </p:sp>
      <p:pic>
        <p:nvPicPr>
          <p:cNvPr id="10" name="Picture 9" descr="01-Nikto-Retry-Official-Tar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2499" y="2212848"/>
            <a:ext cx="2364400" cy="20574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94360" y="2212848"/>
            <a:ext cx="5440680" cy="2057400"/>
          </a:xfrm>
          <a:prstGeom prst="rect">
            <a:avLst/>
          </a:prstGeom>
          <a:noFill/>
          <a:ln w="8890">
            <a:solidFill>
              <a:srgbClr val="B9C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4315968"/>
            <a:ext cx="5440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5B625E"/>
                </a:solidFill>
                <a:latin typeface="Aptos"/>
              </a:defRPr>
            </a:pPr>
            <a:r>
              <a:t>Actual Nikto evidence — official target connection failure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069848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5E3B"/>
                </a:solidFill>
                <a:latin typeface="Aptos"/>
              </a:defRPr>
            </a:pPr>
            <a:r>
              <a:t>Burp Suite evidence</a:t>
            </a:r>
          </a:p>
        </p:txBody>
      </p:sp>
      <p:pic>
        <p:nvPicPr>
          <p:cNvPr id="14" name="Picture 13" descr="01-Burp-Official-Target-GET-Requ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8798" y="1481328"/>
            <a:ext cx="2012883" cy="192024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6309360" y="1481328"/>
            <a:ext cx="2651760" cy="1920240"/>
          </a:xfrm>
          <a:prstGeom prst="rect">
            <a:avLst/>
          </a:prstGeom>
          <a:noFill/>
          <a:ln w="8890">
            <a:solidFill>
              <a:srgbClr val="B9C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02-Burp-Official-Target-Connection-Fail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4103" y="1481328"/>
            <a:ext cx="2128672" cy="192024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9098280" y="1481328"/>
            <a:ext cx="2560320" cy="1920240"/>
          </a:xfrm>
          <a:prstGeom prst="rect">
            <a:avLst/>
          </a:prstGeom>
          <a:noFill/>
          <a:ln w="8890">
            <a:solidFill>
              <a:srgbClr val="B9C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3456432"/>
            <a:ext cx="5349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5B625E"/>
                </a:solidFill>
                <a:latin typeface="Aptos"/>
              </a:defRPr>
            </a:pPr>
            <a:r>
              <a:t>GET request intercepted successfully; forwarding then failed at target connectivity.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3977639"/>
            <a:ext cx="5349240" cy="1417320"/>
          </a:xfrm>
          <a:prstGeom prst="roundRect">
            <a:avLst/>
          </a:prstGeom>
          <a:solidFill>
            <a:srgbClr val="EAF4EC"/>
          </a:solidFill>
          <a:ln w="10160">
            <a:solidFill>
              <a:srgbClr val="B9C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73952" y="4096511"/>
            <a:ext cx="502005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1F5E3B"/>
                </a:solidFill>
                <a:latin typeface="Aptos"/>
              </a:defRPr>
            </a:pPr>
            <a:r>
              <a:t>Critical interpretation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4453127"/>
            <a:ext cx="5020055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91C1A"/>
                </a:solidFill>
                <a:latin typeface="Aptos"/>
              </a:defRPr>
            </a:pPr>
            <a:r>
              <a:t>Failure to connect is a testing limitation — NOT proof that the target is secure. The report therefore makes no negative security claim about the official site.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983480"/>
            <a:ext cx="5440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F5E3B"/>
                </a:solidFill>
                <a:latin typeface="Aptos"/>
              </a:defRPr>
            </a:pPr>
            <a:r>
              <a:t>Why the distinction matters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321808"/>
            <a:ext cx="544068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91C1A"/>
                </a:solidFill>
                <a:latin typeface="Aptos"/>
              </a:defRPr>
            </a:pPr>
            <a:r>
              <a:t>A professional VAPT report separates failed tests, observations, validated findings and confirmed remediation.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"/>
          </a:xfrm>
          <a:prstGeom prst="rect">
            <a:avLst/>
          </a:prstGeom>
          <a:solidFill>
            <a:srgbClr val="1F5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5E3B"/>
                </a:solidFill>
                <a:latin typeface="Aptos Display"/>
              </a:defRPr>
            </a:pPr>
            <a:r>
              <a:t>Ubuntu Authorized Lab Extension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914400" cy="50292"/>
          </a:xfrm>
          <a:prstGeom prst="rect">
            <a:avLst/>
          </a:prstGeom>
          <a:solidFill>
            <a:srgbClr val="3F7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B625E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3840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b="1">
                <a:solidFill>
                  <a:srgbClr val="5B625E"/>
                </a:solidFill>
                <a:latin typeface="Aptos"/>
              </a:defRPr>
            </a:pPr>
            <a:r>
              <a:t>DG INTERNS HUB  |  CYBERSECURITY INTERNSHIP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069848"/>
            <a:ext cx="2971800" cy="292608"/>
          </a:xfrm>
          <a:prstGeom prst="roundRect">
            <a:avLst/>
          </a:prstGeom>
          <a:solidFill>
            <a:srgbClr val="EA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088136"/>
            <a:ext cx="2971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1">
                <a:solidFill>
                  <a:srgbClr val="1F5E3B"/>
                </a:solidFill>
                <a:latin typeface="Aptos"/>
              </a:defRPr>
            </a:pPr>
            <a:r>
              <a:t>AUTHORIZED PRACTICAL EXTENSION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481328"/>
            <a:ext cx="48463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91C1A"/>
                </a:solidFill>
                <a:latin typeface="Aptos"/>
              </a:defRPr>
            </a:pPr>
            <a:r>
              <a:t>Target: 192.168.162.131/24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938528"/>
            <a:ext cx="3246120" cy="1097280"/>
          </a:xfrm>
          <a:prstGeom prst="roundRect">
            <a:avLst/>
          </a:prstGeom>
          <a:solidFill>
            <a:srgbClr val="EAF4EC"/>
          </a:solidFill>
          <a:ln w="10160">
            <a:solidFill>
              <a:srgbClr val="B9C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2057400"/>
            <a:ext cx="291693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1F5E3B"/>
                </a:solidFill>
                <a:latin typeface="Aptos"/>
              </a:defRPr>
            </a:pPr>
            <a:r>
              <a:t>Nmap baseline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414016"/>
            <a:ext cx="2916936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20" b="0">
                <a:solidFill>
                  <a:srgbClr val="191C1A"/>
                </a:solidFill>
                <a:latin typeface="Aptos"/>
              </a:defRPr>
            </a:pPr>
            <a:r>
              <a:t>TCP/22 open SSH</a:t>
            </a:r>
            <a:br/>
            <a:r>
              <a:t>TCP/80 open HTTP</a:t>
            </a:r>
            <a:br/>
            <a:r>
              <a:t>OpenSSH 10.2p1 • Apache 2.4.66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182112"/>
            <a:ext cx="3246120" cy="1371600"/>
          </a:xfrm>
          <a:prstGeom prst="roundRect">
            <a:avLst/>
          </a:prstGeom>
          <a:solidFill>
            <a:srgbClr val="F6FAF7"/>
          </a:solidFill>
          <a:ln w="10160">
            <a:solidFill>
              <a:srgbClr val="B9C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" y="3300984"/>
            <a:ext cx="291693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1F5E3B"/>
                </a:solidFill>
                <a:latin typeface="Aptos"/>
              </a:defRPr>
            </a:pPr>
            <a:r>
              <a:t>Nikto baseline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3657600"/>
            <a:ext cx="2916936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20" b="0">
                <a:solidFill>
                  <a:srgbClr val="191C1A"/>
                </a:solidFill>
                <a:latin typeface="Aptos"/>
              </a:defRPr>
            </a:pPr>
            <a:r>
              <a:t>Apache fingerprinting; ETag observation; missing security headers; GET, POST, OPTIONS and HEAD observed.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60520" y="1069848"/>
            <a:ext cx="7040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5E3B"/>
                </a:solidFill>
                <a:latin typeface="Aptos"/>
              </a:defRPr>
            </a:pPr>
            <a:r>
              <a:t>Real lab evidence</a:t>
            </a:r>
          </a:p>
        </p:txBody>
      </p:sp>
      <p:pic>
        <p:nvPicPr>
          <p:cNvPr id="17" name="Picture 16" descr="04-Local-Nmap-Service-Ver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20" y="1535453"/>
            <a:ext cx="3520440" cy="1949149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4160520" y="1481328"/>
            <a:ext cx="3520440" cy="2057400"/>
          </a:xfrm>
          <a:prstGeom prst="rect">
            <a:avLst/>
          </a:prstGeom>
          <a:noFill/>
          <a:ln w="8890">
            <a:solidFill>
              <a:srgbClr val="B9C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60520" y="3611880"/>
            <a:ext cx="3520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5B625E"/>
                </a:solidFill>
                <a:latin typeface="Aptos"/>
              </a:defRPr>
            </a:pPr>
            <a:r>
              <a:t>Nmap service/version detection — Ubuntu target</a:t>
            </a:r>
          </a:p>
        </p:txBody>
      </p:sp>
      <p:pic>
        <p:nvPicPr>
          <p:cNvPr id="20" name="Picture 19" descr="01-Ubuntu-Nikto-Sc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1030" y="1481328"/>
            <a:ext cx="2857500" cy="2057399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7818120" y="1481328"/>
            <a:ext cx="3703320" cy="2057400"/>
          </a:xfrm>
          <a:prstGeom prst="rect">
            <a:avLst/>
          </a:prstGeom>
          <a:noFill/>
          <a:ln w="8890">
            <a:solidFill>
              <a:srgbClr val="B9C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18120" y="3611880"/>
            <a:ext cx="3703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5B625E"/>
                </a:solidFill>
                <a:latin typeface="Aptos"/>
              </a:defRPr>
            </a:pPr>
            <a:r>
              <a:t>Nikto baseline — Ubuntu Apache</a:t>
            </a:r>
          </a:p>
        </p:txBody>
      </p:sp>
      <p:pic>
        <p:nvPicPr>
          <p:cNvPr id="23" name="Picture 22" descr="01-Ubuntu-Burp-GET-Reque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6003" y="4160520"/>
            <a:ext cx="2069472" cy="160020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4160520" y="4160520"/>
            <a:ext cx="3520440" cy="1600200"/>
          </a:xfrm>
          <a:prstGeom prst="rect">
            <a:avLst/>
          </a:prstGeom>
          <a:noFill/>
          <a:ln w="8890">
            <a:solidFill>
              <a:srgbClr val="B9C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60520" y="5806440"/>
            <a:ext cx="3520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5B625E"/>
                </a:solidFill>
                <a:latin typeface="Aptos"/>
              </a:defRPr>
            </a:pPr>
            <a:r>
              <a:t>Burp — captured GET request</a:t>
            </a:r>
          </a:p>
        </p:txBody>
      </p:sp>
      <p:pic>
        <p:nvPicPr>
          <p:cNvPr id="26" name="Picture 25" descr="02-Ubuntu-Apache-Respon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39479" y="4160520"/>
            <a:ext cx="3660600" cy="160020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7818120" y="4160520"/>
            <a:ext cx="3703320" cy="1600200"/>
          </a:xfrm>
          <a:prstGeom prst="rect">
            <a:avLst/>
          </a:prstGeom>
          <a:noFill/>
          <a:ln w="8890">
            <a:solidFill>
              <a:srgbClr val="B9C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18120" y="5806440"/>
            <a:ext cx="3703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5B625E"/>
                </a:solidFill>
                <a:latin typeface="Aptos"/>
              </a:defRPr>
            </a:pPr>
            <a:r>
              <a:t>Burp — Apache response after forwarding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"/>
          </a:xfrm>
          <a:prstGeom prst="rect">
            <a:avLst/>
          </a:prstGeom>
          <a:solidFill>
            <a:srgbClr val="1F5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5E3B"/>
                </a:solidFill>
                <a:latin typeface="Aptos Display"/>
              </a:defRPr>
            </a:pPr>
            <a:r>
              <a:t>Findings &amp; Validation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914400" cy="50292"/>
          </a:xfrm>
          <a:prstGeom prst="rect">
            <a:avLst/>
          </a:prstGeom>
          <a:solidFill>
            <a:srgbClr val="3F7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B625E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3840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b="1">
                <a:solidFill>
                  <a:srgbClr val="5B625E"/>
                </a:solidFill>
                <a:latin typeface="Aptos"/>
              </a:defRPr>
            </a:pPr>
            <a:r>
              <a:t>DG INTERNS HUB  |  CYBERSECURITY INTERNSHIP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1554480" cy="502920"/>
          </a:xfrm>
          <a:prstGeom prst="roundRect">
            <a:avLst/>
          </a:prstGeom>
          <a:solidFill>
            <a:srgbClr val="1F5E3B"/>
          </a:solidFill>
          <a:ln w="10160">
            <a:solidFill>
              <a:srgbClr val="B9C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444752"/>
            <a:ext cx="1225295" cy="292608"/>
          </a:xfrm>
          <a:prstGeom prst="rect">
            <a:avLst/>
          </a:prstGeom>
          <a:solidFill>
            <a:srgbClr val="1F5E3B"/>
          </a:solidFill>
          <a:ln>
            <a:noFill/>
          </a:ln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FFFFFF"/>
                </a:solidFill>
                <a:latin typeface="Aptos"/>
              </a:defRPr>
            </a:pPr>
            <a:r>
              <a:t>Finding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48840" y="1325880"/>
            <a:ext cx="3566160" cy="502920"/>
          </a:xfrm>
          <a:prstGeom prst="roundRect">
            <a:avLst/>
          </a:prstGeom>
          <a:solidFill>
            <a:srgbClr val="1F5E3B"/>
          </a:solidFill>
          <a:ln w="10160">
            <a:solidFill>
              <a:srgbClr val="B9C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13432" y="1444752"/>
            <a:ext cx="3236976" cy="292608"/>
          </a:xfrm>
          <a:prstGeom prst="rect">
            <a:avLst/>
          </a:prstGeom>
          <a:solidFill>
            <a:srgbClr val="1F5E3B"/>
          </a:solidFill>
          <a:ln>
            <a:noFill/>
          </a:ln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FFFFFF"/>
                </a:solidFill>
                <a:latin typeface="Aptos"/>
              </a:defRPr>
            </a:pPr>
            <a:r>
              <a:t>Baseline evidence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15000" y="1325880"/>
            <a:ext cx="2743200" cy="502920"/>
          </a:xfrm>
          <a:prstGeom prst="roundRect">
            <a:avLst/>
          </a:prstGeom>
          <a:solidFill>
            <a:srgbClr val="1F5E3B"/>
          </a:solidFill>
          <a:ln w="10160">
            <a:solidFill>
              <a:srgbClr val="B9C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79592" y="1444752"/>
            <a:ext cx="2414016" cy="292608"/>
          </a:xfrm>
          <a:prstGeom prst="rect">
            <a:avLst/>
          </a:prstGeom>
          <a:solidFill>
            <a:srgbClr val="1F5E3B"/>
          </a:solidFill>
          <a:ln>
            <a:noFill/>
          </a:ln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FFFFFF"/>
                </a:solidFill>
                <a:latin typeface="Aptos"/>
              </a:defRPr>
            </a:pPr>
            <a:r>
              <a:t>Validation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58200" y="1325880"/>
            <a:ext cx="3108960" cy="502920"/>
          </a:xfrm>
          <a:prstGeom prst="roundRect">
            <a:avLst/>
          </a:prstGeom>
          <a:solidFill>
            <a:srgbClr val="1F5E3B"/>
          </a:solidFill>
          <a:ln w="10160">
            <a:solidFill>
              <a:srgbClr val="B9C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22792" y="1444752"/>
            <a:ext cx="2779776" cy="292608"/>
          </a:xfrm>
          <a:prstGeom prst="rect">
            <a:avLst/>
          </a:prstGeom>
          <a:solidFill>
            <a:srgbClr val="1F5E3B"/>
          </a:solidFill>
          <a:ln>
            <a:noFill/>
          </a:ln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FFFFFF"/>
                </a:solidFill>
                <a:latin typeface="Aptos"/>
              </a:defRPr>
            </a:pPr>
            <a:r>
              <a:t>Security significance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1892807"/>
            <a:ext cx="1554480" cy="932688"/>
          </a:xfrm>
          <a:prstGeom prst="roundRect">
            <a:avLst/>
          </a:prstGeom>
          <a:solidFill>
            <a:srgbClr val="EAF4EC"/>
          </a:solidFill>
          <a:ln w="6350">
            <a:solidFill>
              <a:srgbClr val="B9C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" y="1975103"/>
            <a:ext cx="1408176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1">
                <a:solidFill>
                  <a:srgbClr val="1F5E3B"/>
                </a:solidFill>
                <a:latin typeface="Aptos"/>
              </a:defRPr>
            </a:pPr>
            <a:r>
              <a:t>ETag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148840" y="1892807"/>
            <a:ext cx="3566160" cy="932688"/>
          </a:xfrm>
          <a:prstGeom prst="roundRect">
            <a:avLst/>
          </a:prstGeom>
          <a:solidFill>
            <a:srgbClr val="F6FAF7"/>
          </a:solidFill>
          <a:ln w="6350">
            <a:solidFill>
              <a:srgbClr val="B9C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21992" y="1975103"/>
            <a:ext cx="3419856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0">
                <a:solidFill>
                  <a:srgbClr val="191C1A"/>
                </a:solidFill>
                <a:latin typeface="Aptos"/>
              </a:defRPr>
            </a:pPr>
            <a:r>
              <a:t>ETag: "29b0-65c211720ffa0"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0" y="1892807"/>
            <a:ext cx="2743200" cy="932688"/>
          </a:xfrm>
          <a:prstGeom prst="roundRect">
            <a:avLst/>
          </a:prstGeom>
          <a:solidFill>
            <a:srgbClr val="F6FAF7"/>
          </a:solidFill>
          <a:ln w="6350">
            <a:solidFill>
              <a:srgbClr val="B9C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88152" y="1975103"/>
            <a:ext cx="2596896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0">
                <a:solidFill>
                  <a:srgbClr val="191C1A"/>
                </a:solidFill>
                <a:latin typeface="Aptos"/>
              </a:defRPr>
            </a:pPr>
            <a:r>
              <a:t>curl -I reproduced ETag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58200" y="1892807"/>
            <a:ext cx="3108960" cy="932688"/>
          </a:xfrm>
          <a:prstGeom prst="roundRect">
            <a:avLst/>
          </a:prstGeom>
          <a:solidFill>
            <a:srgbClr val="F6FAF7"/>
          </a:solidFill>
          <a:ln w="6350">
            <a:solidFill>
              <a:srgbClr val="B9C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31352" y="1975103"/>
            <a:ext cx="2962656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0">
                <a:solidFill>
                  <a:srgbClr val="191C1A"/>
                </a:solidFill>
                <a:latin typeface="Aptos"/>
              </a:defRPr>
            </a:pPr>
            <a:r>
              <a:t>Configuration / information disclosure observation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2971800"/>
            <a:ext cx="1554480" cy="932688"/>
          </a:xfrm>
          <a:prstGeom prst="roundRect">
            <a:avLst/>
          </a:prstGeom>
          <a:solidFill>
            <a:srgbClr val="EAF4EC"/>
          </a:solidFill>
          <a:ln w="6350">
            <a:solidFill>
              <a:srgbClr val="B9C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" y="3054096"/>
            <a:ext cx="1408176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1">
                <a:solidFill>
                  <a:srgbClr val="1F5E3B"/>
                </a:solidFill>
                <a:latin typeface="Aptos"/>
              </a:defRPr>
            </a:pPr>
            <a:r>
              <a:t>Security headers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148840" y="2971800"/>
            <a:ext cx="3566160" cy="932688"/>
          </a:xfrm>
          <a:prstGeom prst="roundRect">
            <a:avLst/>
          </a:prstGeom>
          <a:solidFill>
            <a:srgbClr val="F6FAF7"/>
          </a:solidFill>
          <a:ln w="6350">
            <a:solidFill>
              <a:srgbClr val="B9C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221992" y="3054096"/>
            <a:ext cx="3419856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0">
                <a:solidFill>
                  <a:srgbClr val="191C1A"/>
                </a:solidFill>
                <a:latin typeface="Aptos"/>
              </a:defRPr>
            </a:pPr>
            <a:r>
              <a:t>CSP, Referrer-Policy, X-Content-Type-Options, Permissions-Policy absent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15000" y="2971800"/>
            <a:ext cx="2743200" cy="932688"/>
          </a:xfrm>
          <a:prstGeom prst="roundRect">
            <a:avLst/>
          </a:prstGeom>
          <a:solidFill>
            <a:srgbClr val="F6FAF7"/>
          </a:solidFill>
          <a:ln w="6350">
            <a:solidFill>
              <a:srgbClr val="B9C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88152" y="3054096"/>
            <a:ext cx="2596896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0">
                <a:solidFill>
                  <a:srgbClr val="191C1A"/>
                </a:solidFill>
                <a:latin typeface="Aptos"/>
              </a:defRPr>
            </a:pPr>
            <a:r>
              <a:t>Direct response inspection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58200" y="2971800"/>
            <a:ext cx="3108960" cy="932688"/>
          </a:xfrm>
          <a:prstGeom prst="roundRect">
            <a:avLst/>
          </a:prstGeom>
          <a:solidFill>
            <a:srgbClr val="F6FAF7"/>
          </a:solidFill>
          <a:ln w="6350">
            <a:solidFill>
              <a:srgbClr val="B9C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31352" y="3054096"/>
            <a:ext cx="2962656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0">
                <a:solidFill>
                  <a:srgbClr val="191C1A"/>
                </a:solidFill>
                <a:latin typeface="Aptos"/>
              </a:defRPr>
            </a:pPr>
            <a:r>
              <a:t>Reduced browser-side security controls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" y="4050791"/>
            <a:ext cx="1554480" cy="932688"/>
          </a:xfrm>
          <a:prstGeom prst="roundRect">
            <a:avLst/>
          </a:prstGeom>
          <a:solidFill>
            <a:srgbClr val="EAF4EC"/>
          </a:solidFill>
          <a:ln w="6350">
            <a:solidFill>
              <a:srgbClr val="B9C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7512" y="4133087"/>
            <a:ext cx="1408176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1">
                <a:solidFill>
                  <a:srgbClr val="1F5E3B"/>
                </a:solidFill>
                <a:latin typeface="Aptos"/>
              </a:defRPr>
            </a:pPr>
            <a:r>
              <a:t>HTTP methods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148840" y="4050791"/>
            <a:ext cx="3566160" cy="932688"/>
          </a:xfrm>
          <a:prstGeom prst="roundRect">
            <a:avLst/>
          </a:prstGeom>
          <a:solidFill>
            <a:srgbClr val="F6FAF7"/>
          </a:solidFill>
          <a:ln w="6350">
            <a:solidFill>
              <a:srgbClr val="B9C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21992" y="4133087"/>
            <a:ext cx="3419856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0">
                <a:solidFill>
                  <a:srgbClr val="191C1A"/>
                </a:solidFill>
                <a:latin typeface="Aptos"/>
              </a:defRPr>
            </a:pPr>
            <a:r>
              <a:t>OPTIONS → 200 OK; Allow: GET, POST, OPTIONS, HEAD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715000" y="4050791"/>
            <a:ext cx="2743200" cy="932688"/>
          </a:xfrm>
          <a:prstGeom prst="roundRect">
            <a:avLst/>
          </a:prstGeom>
          <a:solidFill>
            <a:srgbClr val="F6FAF7"/>
          </a:solidFill>
          <a:ln w="6350">
            <a:solidFill>
              <a:srgbClr val="B9C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88152" y="4133087"/>
            <a:ext cx="2596896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0">
                <a:solidFill>
                  <a:srgbClr val="191C1A"/>
                </a:solidFill>
                <a:latin typeface="Aptos"/>
              </a:defRPr>
            </a:pPr>
            <a:r>
              <a:t>Direct OPTIONS request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458200" y="4050791"/>
            <a:ext cx="3108960" cy="932688"/>
          </a:xfrm>
          <a:prstGeom prst="roundRect">
            <a:avLst/>
          </a:prstGeom>
          <a:solidFill>
            <a:srgbClr val="F6FAF7"/>
          </a:solidFill>
          <a:ln w="6350">
            <a:solidFill>
              <a:srgbClr val="B9C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31352" y="4133087"/>
            <a:ext cx="2962656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0">
                <a:solidFill>
                  <a:srgbClr val="191C1A"/>
                </a:solidFill>
                <a:latin typeface="Aptos"/>
              </a:defRPr>
            </a:pPr>
            <a:r>
              <a:t>Unnecessary methods for simple static service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" y="4983480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F5E3B"/>
                </a:solidFill>
                <a:latin typeface="Aptos"/>
              </a:defRPr>
            </a:pPr>
            <a:r>
              <a:t>Real validation evidence</a:t>
            </a:r>
          </a:p>
        </p:txBody>
      </p:sp>
      <p:pic>
        <p:nvPicPr>
          <p:cNvPr id="40" name="Picture 39" descr="02-ETag-Information-Disclosure-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4974" y="5349240"/>
            <a:ext cx="1847771" cy="868680"/>
          </a:xfrm>
          <a:prstGeom prst="rect">
            <a:avLst/>
          </a:prstGeom>
        </p:spPr>
      </p:pic>
      <p:sp>
        <p:nvSpPr>
          <p:cNvPr id="41" name="Rectangle 40"/>
          <p:cNvSpPr/>
          <p:nvPr/>
        </p:nvSpPr>
        <p:spPr>
          <a:xfrm>
            <a:off x="594360" y="5349240"/>
            <a:ext cx="3429000" cy="868680"/>
          </a:xfrm>
          <a:prstGeom prst="rect">
            <a:avLst/>
          </a:prstGeom>
          <a:noFill/>
          <a:ln w="8890">
            <a:solidFill>
              <a:srgbClr val="B9C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01-HTTP-Security-Headers-Bas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2754" y="5349240"/>
            <a:ext cx="1144531" cy="868680"/>
          </a:xfrm>
          <a:prstGeom prst="rect">
            <a:avLst/>
          </a:prstGeom>
        </p:spPr>
      </p:pic>
      <p:sp>
        <p:nvSpPr>
          <p:cNvPr id="43" name="Rectangle 42"/>
          <p:cNvSpPr/>
          <p:nvPr/>
        </p:nvSpPr>
        <p:spPr>
          <a:xfrm>
            <a:off x="4160520" y="5349240"/>
            <a:ext cx="3429000" cy="868680"/>
          </a:xfrm>
          <a:prstGeom prst="rect">
            <a:avLst/>
          </a:prstGeom>
          <a:noFill/>
          <a:ln w="8890">
            <a:solidFill>
              <a:srgbClr val="B9C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03-HTTP-Methods-Valid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0033" y="5349240"/>
            <a:ext cx="1242291" cy="868680"/>
          </a:xfrm>
          <a:prstGeom prst="rect">
            <a:avLst/>
          </a:prstGeom>
        </p:spPr>
      </p:pic>
      <p:sp>
        <p:nvSpPr>
          <p:cNvPr id="45" name="Rectangle 44"/>
          <p:cNvSpPr/>
          <p:nvPr/>
        </p:nvSpPr>
        <p:spPr>
          <a:xfrm>
            <a:off x="7726679" y="5349240"/>
            <a:ext cx="3429000" cy="868680"/>
          </a:xfrm>
          <a:prstGeom prst="rect">
            <a:avLst/>
          </a:prstGeom>
          <a:noFill/>
          <a:ln w="8890">
            <a:solidFill>
              <a:srgbClr val="B9C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94360" y="6236208"/>
            <a:ext cx="3429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5B625E"/>
                </a:solidFill>
                <a:latin typeface="Aptos"/>
              </a:defRPr>
            </a:pPr>
            <a:r>
              <a:t>ETag validation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60520" y="6236208"/>
            <a:ext cx="3429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5B625E"/>
                </a:solidFill>
                <a:latin typeface="Aptos"/>
              </a:defRPr>
            </a:pPr>
            <a:r>
              <a:t>Header baseline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26679" y="6236208"/>
            <a:ext cx="3429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5B625E"/>
                </a:solidFill>
                <a:latin typeface="Aptos"/>
              </a:defRPr>
            </a:pPr>
            <a:r>
              <a:t>OPTIONS validation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"/>
          </a:xfrm>
          <a:prstGeom prst="rect">
            <a:avLst/>
          </a:prstGeom>
          <a:solidFill>
            <a:srgbClr val="1F5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5E3B"/>
                </a:solidFill>
                <a:latin typeface="Aptos Display"/>
              </a:defRPr>
            </a:pPr>
            <a:r>
              <a:t>Defense, Hardening &amp; Retesting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914400" cy="50292"/>
          </a:xfrm>
          <a:prstGeom prst="rect">
            <a:avLst/>
          </a:prstGeom>
          <a:solidFill>
            <a:srgbClr val="3F7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B625E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3840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b="1">
                <a:solidFill>
                  <a:srgbClr val="5B625E"/>
                </a:solidFill>
                <a:latin typeface="Aptos"/>
              </a:defRPr>
            </a:pPr>
            <a:r>
              <a:t>DG INTERNS HUB  |  CYBERSECURITY INTERNSHIP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69848"/>
            <a:ext cx="2926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5E3B"/>
                </a:solidFill>
                <a:latin typeface="Aptos"/>
              </a:defRPr>
            </a:pPr>
            <a:r>
              <a:t>Remediation controls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444752"/>
            <a:ext cx="2971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20">
                <a:solidFill>
                  <a:srgbClr val="191C1A"/>
                </a:solidFill>
                <a:latin typeface="Aptos"/>
              </a:defRPr>
            </a:pPr>
            <a:r>
              <a:t>• Security headers configured in Apache</a:t>
            </a:r>
          </a:p>
          <a:p>
            <a:pPr>
              <a:spcAft>
                <a:spcPts val="700"/>
              </a:spcAft>
              <a:defRPr sz="1220">
                <a:solidFill>
                  <a:srgbClr val="191C1A"/>
                </a:solidFill>
                <a:latin typeface="Aptos"/>
              </a:defRPr>
            </a:pPr>
            <a:r>
              <a:t>• ETag generation disabled with FileETag None</a:t>
            </a:r>
          </a:p>
          <a:p>
            <a:pPr>
              <a:spcAft>
                <a:spcPts val="700"/>
              </a:spcAft>
              <a:defRPr sz="1220">
                <a:solidFill>
                  <a:srgbClr val="191C1A"/>
                </a:solidFill>
                <a:latin typeface="Aptos"/>
              </a:defRPr>
            </a:pPr>
            <a:r>
              <a:t>• GET/HEAD retained; other methods restricted</a:t>
            </a:r>
          </a:p>
          <a:p>
            <a:pPr>
              <a:spcAft>
                <a:spcPts val="700"/>
              </a:spcAft>
              <a:defRPr sz="1220">
                <a:solidFill>
                  <a:srgbClr val="191C1A"/>
                </a:solidFill>
                <a:latin typeface="Aptos"/>
              </a:defRPr>
            </a:pPr>
            <a:r>
              <a:t>• Apache configuration syntax-tested before reload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3703320"/>
            <a:ext cx="2971800" cy="1325880"/>
          </a:xfrm>
          <a:prstGeom prst="roundRect">
            <a:avLst/>
          </a:prstGeom>
          <a:solidFill>
            <a:srgbClr val="EAF4EC"/>
          </a:solidFill>
          <a:ln w="10160">
            <a:solidFill>
              <a:srgbClr val="B9C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3822191"/>
            <a:ext cx="264261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1F5E3B"/>
                </a:solidFill>
                <a:latin typeface="Aptos"/>
              </a:defRPr>
            </a:pPr>
            <a:r>
              <a:t>Validation discipline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4178808"/>
            <a:ext cx="2642616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91C1A"/>
                </a:solidFill>
                <a:latin typeface="Aptos"/>
              </a:defRPr>
            </a:pPr>
            <a:r>
              <a:t>The HTTP-method rule was corrected after a syntax error; the final configuration passed Syntax OK and Apache remained active after reload.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0" y="1069848"/>
            <a:ext cx="74066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5E3B"/>
                </a:solidFill>
                <a:latin typeface="Aptos"/>
              </a:defRPr>
            </a:pPr>
            <a:r>
              <a:t>Before → After evidence</a:t>
            </a:r>
          </a:p>
        </p:txBody>
      </p:sp>
      <p:pic>
        <p:nvPicPr>
          <p:cNvPr id="13" name="Picture 12" descr="02-ETag-Information-Disclosure-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1605314"/>
            <a:ext cx="2331720" cy="1096195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3886200" y="1444752"/>
            <a:ext cx="2331720" cy="1417320"/>
          </a:xfrm>
          <a:prstGeom prst="rect">
            <a:avLst/>
          </a:prstGeom>
          <a:noFill/>
          <a:ln w="8890">
            <a:solidFill>
              <a:srgbClr val="B9C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04-ETag-After-Harde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7514" y="1444752"/>
            <a:ext cx="1626851" cy="141732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6355080" y="1444752"/>
            <a:ext cx="2331720" cy="1417320"/>
          </a:xfrm>
          <a:prstGeom prst="rect">
            <a:avLst/>
          </a:prstGeom>
          <a:noFill/>
          <a:ln w="8890">
            <a:solidFill>
              <a:srgbClr val="B9C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01-HTTP-Security-Headers-Base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703" y="1444752"/>
            <a:ext cx="1867392" cy="141732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8823960" y="1444752"/>
            <a:ext cx="2468880" cy="1417320"/>
          </a:xfrm>
          <a:prstGeom prst="rect">
            <a:avLst/>
          </a:prstGeom>
          <a:noFill/>
          <a:ln w="8890">
            <a:solidFill>
              <a:srgbClr val="B9C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86200" y="2898648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5B625E"/>
                </a:solidFill>
                <a:latin typeface="Aptos"/>
              </a:defRPr>
            </a:pPr>
            <a:r>
              <a:t>Before: ETag present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898648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5B625E"/>
                </a:solidFill>
                <a:latin typeface="Aptos"/>
              </a:defRPr>
            </a:pPr>
            <a:r>
              <a:t>After: ETag absent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23960" y="2898648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5B625E"/>
                </a:solidFill>
                <a:latin typeface="Aptos"/>
              </a:defRPr>
            </a:pPr>
            <a:r>
              <a:t>Before: headers absent</a:t>
            </a:r>
          </a:p>
        </p:txBody>
      </p:sp>
      <p:pic>
        <p:nvPicPr>
          <p:cNvPr id="22" name="Picture 21" descr="05-HTTP-Methods-After-Harden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3560" y="3520440"/>
            <a:ext cx="2762878" cy="164592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3886200" y="3520440"/>
            <a:ext cx="3657600" cy="1645920"/>
          </a:xfrm>
          <a:prstGeom prst="rect">
            <a:avLst/>
          </a:prstGeom>
          <a:noFill/>
          <a:ln w="8890">
            <a:solidFill>
              <a:srgbClr val="B9C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02-Apache-Config-Tes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26679" y="3856024"/>
            <a:ext cx="3566160" cy="97475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7726679" y="3520440"/>
            <a:ext cx="3566160" cy="1645920"/>
          </a:xfrm>
          <a:prstGeom prst="rect">
            <a:avLst/>
          </a:prstGeom>
          <a:noFill/>
          <a:ln w="8890">
            <a:solidFill>
              <a:srgbClr val="B9C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86200" y="519379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5B625E"/>
                </a:solidFill>
                <a:latin typeface="Aptos"/>
              </a:defRPr>
            </a:pPr>
            <a:r>
              <a:t>After: OPTIONS → 403 Forbidden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26679" y="5193792"/>
            <a:ext cx="3566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5B625E"/>
                </a:solidFill>
                <a:latin typeface="Aptos"/>
              </a:defRPr>
            </a:pPr>
            <a:r>
              <a:t>Apache configuration: Syntax OK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886200" y="5623560"/>
            <a:ext cx="7406640" cy="502920"/>
          </a:xfrm>
          <a:prstGeom prst="roundRect">
            <a:avLst/>
          </a:prstGeom>
          <a:solidFill>
            <a:srgbClr val="F6FAF7"/>
          </a:solidFill>
          <a:ln w="10160">
            <a:solidFill>
              <a:srgbClr val="B9C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050791" y="5742432"/>
            <a:ext cx="707745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1F5E3B"/>
                </a:solidFill>
                <a:latin typeface="Aptos"/>
              </a:defRPr>
            </a:pPr>
            <a:r>
              <a:t>Retest result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50791" y="6099048"/>
            <a:ext cx="7077455" cy="-640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191C1A"/>
                </a:solidFill>
                <a:latin typeface="Aptos"/>
              </a:defRPr>
            </a:pPr>
            <a:r>
              <a:t>All three validated Ubuntu-lab findings were addressed and verified with repeatable requests.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"/>
          </a:xfrm>
          <a:prstGeom prst="rect">
            <a:avLst/>
          </a:prstGeom>
          <a:solidFill>
            <a:srgbClr val="1F5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5E3B"/>
                </a:solidFill>
                <a:latin typeface="Aptos Display"/>
              </a:defRPr>
            </a:pPr>
            <a:r>
              <a:t>Key Learnings &amp; 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32688"/>
            <a:ext cx="914400" cy="50292"/>
          </a:xfrm>
          <a:prstGeom prst="rect">
            <a:avLst/>
          </a:prstGeom>
          <a:solidFill>
            <a:srgbClr val="3F7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B625E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3840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b="1">
                <a:solidFill>
                  <a:srgbClr val="5B625E"/>
                </a:solidFill>
                <a:latin typeface="Aptos"/>
              </a:defRPr>
            </a:pPr>
            <a:r>
              <a:t>DG INTERNS HUB  |  CYBERSECURITY INTERNSHIP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143000"/>
            <a:ext cx="5166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5E3B"/>
                </a:solidFill>
                <a:latin typeface="Aptos"/>
              </a:defRPr>
            </a:pPr>
            <a:r>
              <a:t>What I learned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54480"/>
            <a:ext cx="50749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40">
                <a:solidFill>
                  <a:srgbClr val="191C1A"/>
                </a:solidFill>
                <a:latin typeface="Aptos"/>
              </a:defRPr>
            </a:pPr>
            <a:r>
              <a:t>• Reconnaissance results must be interpreted in network context.</a:t>
            </a:r>
          </a:p>
          <a:p>
            <a:pPr>
              <a:spcAft>
                <a:spcPts val="700"/>
              </a:spcAft>
              <a:defRPr sz="1240">
                <a:solidFill>
                  <a:srgbClr val="191C1A"/>
                </a:solidFill>
                <a:latin typeface="Aptos"/>
              </a:defRPr>
            </a:pPr>
            <a:r>
              <a:t>• Scanner output requires validation before becoming a finding.</a:t>
            </a:r>
          </a:p>
          <a:p>
            <a:pPr>
              <a:spcAft>
                <a:spcPts val="700"/>
              </a:spcAft>
              <a:defRPr sz="1240">
                <a:solidFill>
                  <a:srgbClr val="191C1A"/>
                </a:solidFill>
                <a:latin typeface="Aptos"/>
              </a:defRPr>
            </a:pPr>
            <a:r>
              <a:t>• Burp Suite exposes the exact HTTP request/response flow.</a:t>
            </a:r>
          </a:p>
          <a:p>
            <a:pPr>
              <a:spcAft>
                <a:spcPts val="700"/>
              </a:spcAft>
              <a:defRPr sz="1240">
                <a:solidFill>
                  <a:srgbClr val="191C1A"/>
                </a:solidFill>
                <a:latin typeface="Aptos"/>
              </a:defRPr>
            </a:pPr>
            <a:r>
              <a:t>• curl provides repeatable, low-noise validation.</a:t>
            </a:r>
          </a:p>
          <a:p>
            <a:pPr>
              <a:spcAft>
                <a:spcPts val="700"/>
              </a:spcAft>
              <a:defRPr sz="1240">
                <a:solidFill>
                  <a:srgbClr val="191C1A"/>
                </a:solidFill>
                <a:latin typeface="Aptos"/>
              </a:defRPr>
            </a:pPr>
            <a:r>
              <a:t>• Hardening is incomplete until client-side retesting confirms the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89320" y="1143000"/>
            <a:ext cx="5257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5E3B"/>
                </a:solidFill>
                <a:latin typeface="Aptos"/>
              </a:defRPr>
            </a:pPr>
            <a:r>
              <a:t>Practical challenges &amp; handling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1554480"/>
            <a:ext cx="525780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40">
                <a:solidFill>
                  <a:srgbClr val="191C1A"/>
                </a:solidFill>
                <a:latin typeface="Aptos"/>
              </a:defRPr>
            </a:pPr>
            <a:r>
              <a:t>• Official target was unreachable from the current network path → documented as a limitation.</a:t>
            </a:r>
          </a:p>
          <a:p>
            <a:pPr>
              <a:spcAft>
                <a:spcPts val="700"/>
              </a:spcAft>
              <a:defRPr sz="1240">
                <a:solidFill>
                  <a:srgbClr val="191C1A"/>
                </a:solidFill>
                <a:latin typeface="Aptos"/>
              </a:defRPr>
            </a:pPr>
            <a:r>
              <a:t>• Ubuntu lab used as an authorized extension → enabled complete validation and remediation.</a:t>
            </a:r>
          </a:p>
          <a:p>
            <a:pPr>
              <a:spcAft>
                <a:spcPts val="700"/>
              </a:spcAft>
              <a:defRPr sz="1240">
                <a:solidFill>
                  <a:srgbClr val="191C1A"/>
                </a:solidFill>
                <a:latin typeface="Aptos"/>
              </a:defRPr>
            </a:pPr>
            <a:r>
              <a:t>• Apache method rule initially produced a syntax error → corrected configuration, tested, reloaded and retested.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4069080"/>
            <a:ext cx="10652760" cy="1143000"/>
          </a:xfrm>
          <a:prstGeom prst="roundRect">
            <a:avLst/>
          </a:prstGeom>
          <a:solidFill>
            <a:srgbClr val="EAF4EC"/>
          </a:solidFill>
          <a:ln w="10160">
            <a:solidFill>
              <a:srgbClr val="B9C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4187952"/>
            <a:ext cx="1032357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1F5E3B"/>
                </a:solidFill>
                <a:latin typeface="Aptos"/>
              </a:defRPr>
            </a:pPr>
            <a:r>
              <a:t>Evidence-based VAPT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4544568"/>
            <a:ext cx="10323576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91C1A"/>
                </a:solidFill>
                <a:latin typeface="Aptos"/>
              </a:defRPr>
            </a:pPr>
            <a:r>
              <a:t>Identify → reproduce → interpret → remediate → retest.  The practical value was not the scanner output alone, but converting observations into defensible, repeatable security evidence.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5440680"/>
            <a:ext cx="10652760" cy="640080"/>
          </a:xfrm>
          <a:prstGeom prst="roundRect">
            <a:avLst/>
          </a:prstGeom>
          <a:solidFill>
            <a:srgbClr val="F6FAF7"/>
          </a:solidFill>
          <a:ln w="10160">
            <a:solidFill>
              <a:srgbClr val="B9C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5559552"/>
            <a:ext cx="1032357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1F5E3B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" y="5916168"/>
            <a:ext cx="10323576" cy="731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91C1A"/>
                </a:solidFill>
                <a:latin typeface="Aptos"/>
              </a:defRPr>
            </a:pPr>
            <a:r>
              <a:t>Official target assessment completed as far as connectivity permitted; Ubuntu VAPT extension, validation, hardening, retesting and before/after evidence completed.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