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109728"/>
            <a:ext cx="4233672" cy="6748272"/>
          </a:xfrm>
          <a:prstGeom prst="rect">
            <a:avLst/>
          </a:prstGeom>
          <a:solidFill>
            <a:srgbClr val="EC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24C"/>
                </a:solidFill>
                <a:latin typeface="Aptos"/>
              </a:defRPr>
            </a:pPr>
            <a:r>
              <a:t>DG INTERNS HUB  /  CYBERSECURITY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766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231F"/>
                </a:solidFill>
                <a:latin typeface="Aptos"/>
              </a:defRPr>
            </a:pPr>
            <a:r>
              <a:t>WEEK 8 —</a:t>
            </a:r>
          </a:p>
          <a:p>
            <a:pPr>
              <a:defRPr sz="3400" b="1">
                <a:solidFill>
                  <a:srgbClr val="18231F"/>
                </a:solidFill>
                <a:latin typeface="Aptos"/>
              </a:defRPr>
            </a:pPr>
            <a:r>
              <a:t>ADVANCED VAPT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C5C54"/>
                </a:solidFill>
                <a:latin typeface="Aptos"/>
              </a:defRPr>
            </a:pPr>
            <a:r>
              <a:t>Attack Surface, Findings, Remediation &amp; Retesting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649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31F"/>
                </a:solidFill>
                <a:latin typeface="Aptos"/>
              </a:defRPr>
            </a:pPr>
            <a:r>
              <a:t>Samyuktha S.</a:t>
            </a:r>
          </a:p>
          <a:p>
            <a:pPr>
              <a:defRPr sz="1300" b="1">
                <a:solidFill>
                  <a:srgbClr val="18231F"/>
                </a:solidFill>
                <a:latin typeface="Aptos"/>
              </a:defRPr>
            </a:pPr>
            <a:r>
              <a:t>Internship ID: DG/SEPTEMBER/CYBER/102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24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31F"/>
                </a:solidFill>
                <a:latin typeface="Aptos"/>
              </a:defRPr>
            </a:pPr>
            <a:r>
              <a:t>OWASP Juice 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24C"/>
                </a:solidFill>
                <a:latin typeface="Aptos"/>
              </a:defRPr>
            </a:pPr>
            <a:r>
              <a:t>AUTHORIZED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90779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231F"/>
                </a:solidFill>
                <a:latin typeface="Aptos"/>
              </a:defRPr>
            </a:pPr>
            <a:r>
              <a:t>http://127.0.0.1:3000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074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824C"/>
                </a:solidFill>
                <a:latin typeface="Aptos"/>
              </a:defRPr>
            </a:pPr>
            <a:r>
              <a:t>EVIDENCE-LED</a:t>
            </a:r>
          </a:p>
          <a:p>
            <a:pPr>
              <a:defRPr sz="1300" b="1">
                <a:solidFill>
                  <a:srgbClr val="1E824C"/>
                </a:solidFill>
                <a:latin typeface="Aptos"/>
              </a:defRPr>
            </a:pPr>
            <a:r>
              <a:t>TECHNICAL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01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31F"/>
                </a:solidFill>
                <a:latin typeface="Aptos"/>
              </a:defRPr>
            </a:pPr>
            <a:r>
              <a:t>Scope &amp; testing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Testing was limited to the intentionally vulnerable local application; tool versions and test timestamps were not established in the supplied archive.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20440" cy="150876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73152" cy="150876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01 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50008"/>
            <a:ext cx="3136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C5C54"/>
                </a:solidFill>
                <a:latin typeface="Aptos"/>
              </a:defRPr>
            </a:pPr>
            <a:r>
              <a:t>Application access, login/registration pages and route inventory.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50876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02  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0008"/>
            <a:ext cx="3136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C5C54"/>
                </a:solidFill>
                <a:latin typeface="Aptos"/>
              </a:defRPr>
            </a:pPr>
            <a:r>
              <a:t>Burp Suite site map, HTTP requests/responses and authentication baselines.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520440" cy="150876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83080"/>
            <a:ext cx="73152" cy="150876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47672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03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0008"/>
            <a:ext cx="3136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C5C54"/>
                </a:solidFill>
                <a:latin typeface="Aptos"/>
              </a:defRPr>
            </a:pPr>
            <a:r>
              <a:t>Product-search input handling and public-registration role assignment.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5349240" cy="150876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703320"/>
            <a:ext cx="73152" cy="150876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867911"/>
            <a:ext cx="4983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Evidence 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270248"/>
            <a:ext cx="49651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Claims are limited to observed requests, responses and screenshots. Missing versions, dates or retest results are not inferred.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03320"/>
            <a:ext cx="5349240" cy="150876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73152" cy="1508760"/>
          </a:xfrm>
          <a:prstGeom prst="rect">
            <a:avLst/>
          </a:prstGeom>
          <a:solidFill>
            <a:srgbClr val="B57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67911"/>
            <a:ext cx="4983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Out of scope / not proven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270248"/>
            <a:ext cx="49651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No demonstrated database extraction, proven SQL injection, or verified access to protected administrative operations.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02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31F"/>
                </a:solidFill>
                <a:latin typeface="Aptos"/>
              </a:defRPr>
            </a:pPr>
            <a:r>
              <a:t>Two distinct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The evidence supports two separate test paths—not a single combined exploitation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1874519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874519"/>
          </a:xfrm>
          <a:prstGeom prst="rect">
            <a:avLst/>
          </a:prstGeom>
          <a:solidFill>
            <a:srgbClr val="AA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4983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F-01  |  SQL error disclosure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58568"/>
            <a:ext cx="496519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Normal product search: HTTP 200. Apostrophe-containing input: HTTP 500 with SQL/SQLite-related details and stack information.</a:t>
            </a:r>
          </a:p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</a:p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Impact: internal error details exposed.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1874519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874519"/>
          </a:xfrm>
          <a:prstGeom prst="rect">
            <a:avLst/>
          </a:prstGeom>
          <a:solidFill>
            <a:srgbClr val="B57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4983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F-02  |  Client-controlled role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96519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Registration request supplied role=admin; lab response returned HTTP 201 and role=admin. Challenge-success screenshot is present.</a:t>
            </a:r>
          </a:p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</a:p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Protected admin access: not verified.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824C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5120640" cy="658368"/>
          </a:xfrm>
          <a:prstGeom prst="roundRect">
            <a:avLst/>
          </a:prstGeom>
          <a:solidFill>
            <a:srgbClr val="ECF6EF"/>
          </a:solidFill>
          <a:ln>
            <a:solidFill>
              <a:srgbClr val="D3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24C"/>
                </a:solidFill>
                <a:latin typeface="Aptos"/>
              </a:defRPr>
            </a:pPr>
            <a:r>
              <a:t>F-01  Pending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120640" cy="658368"/>
          </a:xfrm>
          <a:prstGeom prst="roundRect">
            <a:avLst/>
          </a:prstGeom>
          <a:solidFill>
            <a:srgbClr val="ECF6EF"/>
          </a:solidFill>
          <a:ln>
            <a:solidFill>
              <a:srgbClr val="D3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24C"/>
                </a:solidFill>
                <a:latin typeface="Aptos"/>
              </a:defRPr>
            </a:pPr>
            <a:r>
              <a:t>F-02  Pending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03 / FINDING F-01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31F"/>
                </a:solidFill>
                <a:latin typeface="Aptos"/>
              </a:defRPr>
            </a:pPr>
            <a:r>
              <a:t>Product search exposes SQL-related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Evidence comparison: baseline search versus special-character input. This supports error disclosure, not proof of SQL injection.</a:t>
            </a:r>
          </a:p>
        </p:txBody>
      </p:sp>
      <p:pic>
        <p:nvPicPr>
          <p:cNvPr id="6" name="Picture 5" descr="E15-Product-Search-Normal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9872"/>
            <a:ext cx="5303520" cy="2498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65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5C54"/>
                </a:solidFill>
                <a:latin typeface="Aptos"/>
              </a:defRPr>
            </a:pPr>
            <a:r>
              <a:t>Evidence E15 — normal input</a:t>
            </a:r>
          </a:p>
        </p:txBody>
      </p:sp>
      <p:pic>
        <p:nvPicPr>
          <p:cNvPr id="8" name="Picture 7" descr="E14-Product-Search-Special-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4022"/>
            <a:ext cx="5303520" cy="24899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965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5C54"/>
                </a:solidFill>
                <a:latin typeface="Aptos"/>
              </a:defRPr>
            </a:pPr>
            <a:r>
              <a:t>Evidence E14 — special-character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5212080" cy="73152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257800"/>
            <a:ext cx="73152" cy="73152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42239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Observed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824728"/>
            <a:ext cx="482803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HTTP 200 for ordinary search.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257800"/>
            <a:ext cx="5212080" cy="73152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5257800"/>
            <a:ext cx="73152" cy="731520"/>
          </a:xfrm>
          <a:prstGeom prst="rect">
            <a:avLst/>
          </a:prstGeom>
          <a:solidFill>
            <a:srgbClr val="AA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542239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Observed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5824728"/>
            <a:ext cx="482803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HTTP 500 with SQL-related details.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04 / FINDING F-02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31F"/>
                </a:solidFill>
                <a:latin typeface="Aptos"/>
              </a:defRPr>
            </a:pPr>
            <a:r>
              <a:t>Registration accepted a client-supplied admin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Local Juice Shop lab evidence shows role assignment during registration. Do not infer access to protected admin operations.</a:t>
            </a:r>
          </a:p>
        </p:txBody>
      </p:sp>
      <p:pic>
        <p:nvPicPr>
          <p:cNvPr id="6" name="Picture 5" descr="E09-Registration-Request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7105"/>
            <a:ext cx="5303520" cy="2503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65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5C54"/>
                </a:solidFill>
                <a:latin typeface="Aptos"/>
              </a:defRPr>
            </a:pPr>
            <a:r>
              <a:t>Evidence E09 — registration request/response</a:t>
            </a:r>
          </a:p>
        </p:txBody>
      </p:sp>
      <p:pic>
        <p:nvPicPr>
          <p:cNvPr id="8" name="Picture 7" descr="F-02-Admin-Role-Regi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5722"/>
            <a:ext cx="5303520" cy="25065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965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C5C54"/>
                </a:solidFill>
                <a:latin typeface="Aptos"/>
              </a:defRPr>
            </a:pPr>
            <a:r>
              <a:t>F-02 — role-registration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Challenge-success evidence: F-02-Admin-Registration-Challenge-Solved.png  •  Protected admin operations remain unverified.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05 /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31F"/>
                </a:solidFill>
                <a:latin typeface="Aptos"/>
              </a:defRPr>
            </a:pPr>
            <a:r>
              <a:t>Fixes and retest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Both findings remain Pending Verification until fixes are implemented and genuine retest evidence is captured.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440680" cy="201168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201168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F-01  |  SQL error disclosure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67128"/>
            <a:ext cx="505663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Use prepared statements / parameterized queries.</a:t>
            </a:r>
          </a:p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Avoid SQL string concatenation.</a:t>
            </a:r>
          </a:p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Return generic client errors; log details securely.</a:t>
            </a:r>
          </a:p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Regression-test normal and special-character searches.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49240" cy="201168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73152" cy="201168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64792"/>
            <a:ext cx="49834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F-02  |  Role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67128"/>
            <a:ext cx="496519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Assign customer role server-side.</a:t>
            </a:r>
          </a:p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Reject or ignore client role/isAdmin fields.</a:t>
            </a:r>
          </a:p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Enforce authorization on every admin operation.</a:t>
            </a:r>
          </a:p>
          <a:p>
            <a:pPr>
              <a:defRPr sz="1300" b="0">
                <a:solidFill>
                  <a:srgbClr val="4C5C54"/>
                </a:solidFill>
                <a:latin typeface="Aptos"/>
              </a:defRPr>
            </a:pPr>
            <a:r>
              <a:t>• Test role tampering and customer access denial.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57B1B"/>
                </a:solidFill>
                <a:latin typeface="Aptos"/>
              </a:defRPr>
            </a:pPr>
            <a:r>
              <a:t>RETEST RESULTS — NOT YET TESTED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1188720" cy="438912"/>
          </a:xfrm>
          <a:prstGeom prst="rect">
            <a:avLst/>
          </a:prstGeom>
          <a:solidFill>
            <a:srgbClr val="ECF6EF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5537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480560"/>
            <a:ext cx="4206240" cy="438912"/>
          </a:xfrm>
          <a:prstGeom prst="rect">
            <a:avLst/>
          </a:prstGeom>
          <a:solidFill>
            <a:srgbClr val="ECF6EF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7" y="4553712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Retest criterion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480560"/>
            <a:ext cx="2148840" cy="438912"/>
          </a:xfrm>
          <a:prstGeom prst="rect">
            <a:avLst/>
          </a:prstGeom>
          <a:solidFill>
            <a:srgbClr val="ECF6EF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553712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Actual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4480560"/>
            <a:ext cx="2377440" cy="438912"/>
          </a:xfrm>
          <a:prstGeom prst="rect">
            <a:avLst/>
          </a:prstGeom>
          <a:solidFill>
            <a:srgbClr val="ECF6EF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4553712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956048"/>
            <a:ext cx="118872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029200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F-01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956048"/>
            <a:ext cx="420624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7" y="5029200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No SQL details in errors; normal search 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956048"/>
            <a:ext cx="214884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5029200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Not yet tested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4956048"/>
            <a:ext cx="237744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5029200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431536"/>
            <a:ext cx="118872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504688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F-02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5431536"/>
            <a:ext cx="420624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7" y="5504688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Registration cannot grant admin; customer denied admin routes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5431536"/>
            <a:ext cx="214884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5504688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Not yet tested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5431536"/>
            <a:ext cx="2377440" cy="438912"/>
          </a:xfrm>
          <a:prstGeom prst="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5504688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8231F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824C"/>
                </a:solidFill>
                <a:latin typeface="Aptos"/>
              </a:defRPr>
            </a:pPr>
            <a:r>
              <a:t>06 / CLOSE-OUT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31F"/>
                </a:solidFill>
                <a:latin typeface="Aptos"/>
              </a:defRPr>
            </a:pPr>
            <a:r>
              <a:t>Evidence-led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155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5C54"/>
                </a:solidFill>
                <a:latin typeface="Aptos"/>
              </a:defRPr>
            </a:pPr>
            <a:r>
              <a:t>The local lab demonstrated error disclosure and client-controlled role assignment. Remediation outcomes are not yet known.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29000" cy="141732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41732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Finding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0449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State only what requests, responses and screenshots demonstrate.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41732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141732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Separate test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449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Do not present F-01 and F-02 as one successful exploit chain.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429000" cy="1417320"/>
          </a:xfrm>
          <a:prstGeom prst="roundRect">
            <a:avLst/>
          </a:prstGeom>
          <a:solidFill>
            <a:srgbClr val="F7F9F7"/>
          </a:solidFill>
          <a:ln>
            <a:solidFill>
              <a:srgbClr val="DCE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73152" cy="1417320"/>
          </a:xfrm>
          <a:prstGeom prst="rect">
            <a:avLst/>
          </a:prstGeom>
          <a:solidFill>
            <a:srgbClr val="B57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1F"/>
                </a:solidFill>
                <a:latin typeface="Aptos"/>
              </a:defRPr>
            </a:pPr>
            <a:r>
              <a:t>Verify before 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04288"/>
            <a:ext cx="30449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C5C54"/>
                </a:solidFill>
                <a:latin typeface="Aptos"/>
              </a:defRPr>
            </a:pPr>
            <a:r>
              <a:t>Record build, date, request/response, actual outcome and evidence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824C"/>
                </a:solidFill>
                <a:latin typeface="Aptos"/>
              </a:defRPr>
            </a:pPr>
            <a:r>
              <a:t>NEXT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8231F"/>
                </a:solidFill>
                <a:latin typeface="Aptos"/>
              </a:defRPr>
            </a:pPr>
            <a:r>
              <a:t>1. Implement the recommended fixes.</a:t>
            </a:r>
          </a:p>
          <a:p>
            <a:pPr>
              <a:defRPr sz="1600" b="0">
                <a:solidFill>
                  <a:srgbClr val="18231F"/>
                </a:solidFill>
                <a:latin typeface="Aptos"/>
              </a:defRPr>
            </a:pPr>
            <a:r>
              <a:t>2. Execute both retest plans and capture fresh evidence.</a:t>
            </a:r>
          </a:p>
          <a:p>
            <a:pPr>
              <a:defRPr sz="1600" b="0">
                <a:solidFill>
                  <a:srgbClr val="18231F"/>
                </a:solidFill>
                <a:latin typeface="Aptos"/>
              </a:defRPr>
            </a:pPr>
            <a:r>
              <a:t>3. Update actual results only after verification; keep status Pending Verification until then.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4C5C54"/>
                </a:solidFill>
                <a:latin typeface="Aptos"/>
              </a:defRPr>
            </a:pPr>
            <a:r>
              <a:t>DG INTERNS HUB  •  WEEK 8 ADVANCED VAPT  •  LOCAL AUTHORIZED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E824C"/>
                </a:solidFill>
                <a:latin typeface="Aptos"/>
              </a:defRPr>
            </a:pPr>
            <a: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