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Week 6 practical work. All testing described in this presentation was conducted against the intentionally vulnerable local DVWA training application, not a production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 is limited to a local DVWA instance at 127.0.0.1. The work is educational and authorized. Broken Authentication and Security Misconfiguration were reviewed in notes but are not presented as confirmed practical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Tools and environment are documented in the Week 6 project README. The screenshot is the saved DVWA setup-success image from the project archive.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SQL Injection notes and findings register describe normal input 1 returning admin/admin, while the payload 1' OR '1'='1' # returned multiple records. This confirms the lab exercise behavior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saved screenshot shows the Reflected XSS alert. A single payload test does not establish the behavior of all inputs, contexts, or security configurations.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stored XSS screenshot and project notes indicate the guestbook payload caused an alert when the stored content was rendered. This is limited to the local DVWA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 observations are supported by the saved screenshots and notes. For Medium Reflected XSS, notes/screenshots indicate text/filtering behavior, but no broad prevention claim is made. High Reflected XSS screenshot shows output 'Hello &gt;' and no alert reported. Medium and High SQLi folders contain screenshots named ID=1 through ID=5; the evidence does not by itself prove the payload was blocked or successful, so results are marked for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Burp screenshots in the archive include HTTP history, the SQLi request, the response, and a Repeater request/response view. The recorded result is specific to the Low-security local DVWA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project brief and report indicate a partial OWASP ZAP scan with 13 alerts: 0 High, 5 Medium, 5 Low, 3 Informational. Individual alerts were not all validated; do not present counts as confirmed vulnerabilities.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Recommendations are based on the project OWASP notes and findings register. No remediation is claimed as completed; retesting would be required to verify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workflow: define scope, test safely, observe, capture evidence, document limitations, recommend fixes, and retest. Scanner output should not be treated as a final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stating that the results are limited to the local DVWA lab. The next phase is validation, remediation, and retesting—not claiming that the observed weaknesses are present in a production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94360"/>
            <a:ext cx="7315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824C"/>
                </a:solidFill>
                <a:latin typeface="Aptos"/>
              </a:rPr>
              <a:t>DG INTERNS HUB  /  CYBERSECURITY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6400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1C201E"/>
                </a:solidFill>
                <a:latin typeface="Aptos"/>
              </a:rPr>
              <a:t>Week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7955279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C201E"/>
                </a:solidFill>
                <a:latin typeface="Aptos"/>
              </a:rPr>
              <a:t>Web Security &amp;
Vulnerability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749039"/>
            <a:ext cx="78638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5F6863"/>
                </a:solidFill>
                <a:latin typeface="Aptos"/>
              </a:rPr>
              <a:t>Vulnerability Assessment &amp; Penetration Testing (VAPT Basics)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4663440"/>
            <a:ext cx="822960" cy="64008"/>
          </a:xfrm>
          <a:prstGeom prst="rect">
            <a:avLst/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5074920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C201E"/>
                </a:solidFill>
                <a:latin typeface="Aptos"/>
              </a:rPr>
              <a:t>SAMYUKTHA 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468112"/>
            <a:ext cx="5303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F6863"/>
                </a:solidFill>
                <a:latin typeface="Aptos"/>
              </a:rPr>
              <a:t>Internship ID  DG/SEPTEMBER/CYBER/102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097280"/>
            <a:ext cx="2148840" cy="4297680"/>
          </a:xfrm>
          <a:prstGeom prst="roundRect">
            <a:avLst>
              <a:gd name="adj" fmla="val 12000"/>
            </a:avLst>
          </a:prstGeom>
          <a:solidFill>
            <a:srgbClr val="E7F4EB"/>
          </a:solidFill>
          <a:ln>
            <a:solidFill>
              <a:srgbClr val="E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55480" y="1874519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0" y="207568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12680" y="2276856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241280" y="2478024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469880" y="2679191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0" y="3291840"/>
            <a:ext cx="160020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25835"/>
                </a:solidFill>
                <a:latin typeface="Aptos"/>
              </a:rPr>
              <a:t>LOCAL LAB
EVIDENCE-LED
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824C"/>
                </a:solidFill>
                <a:latin typeface="Aptos"/>
              </a:rPr>
              <a:t>WEEK 06  /  WEB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201E"/>
                </a:solidFill>
                <a:latin typeface="Aptos"/>
              </a:rPr>
              <a:t>Objective and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658368" cy="50292"/>
          </a:xfrm>
          <a:prstGeom prst="rect">
            <a:avLst/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F6863"/>
                </a:solidFill>
                <a:latin typeface="Aptos"/>
              </a:rPr>
              <a:t>DG INTERNS HUB  •  CYBERSECURITY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E824C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303520" cy="1828800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73152" cy="1828800"/>
          </a:xfrm>
          <a:prstGeom prst="roundRect">
            <a:avLst>
              <a:gd name="adj" fmla="val 12000"/>
            </a:avLst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73351"/>
            <a:ext cx="4937759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201E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93976"/>
            <a:ext cx="4919472" cy="11155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F6863"/>
                </a:solidFill>
                <a:latin typeface="Aptos"/>
              </a:rPr>
              <a:t>Practice core VAPT workflow: controlled test input, observe behavior, capture evidence, and record remediation.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303520" cy="1828800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508760"/>
            <a:ext cx="73152" cy="1828800"/>
          </a:xfrm>
          <a:prstGeom prst="roundRect">
            <a:avLst>
              <a:gd name="adj" fmla="val 12000"/>
            </a:avLst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673351"/>
            <a:ext cx="4937759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201E"/>
                </a:solidFill>
                <a:latin typeface="Aptos"/>
              </a:rPr>
              <a:t>In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093976"/>
            <a:ext cx="4919472" cy="11155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F6863"/>
                </a:solidFill>
                <a:latin typeface="Aptos"/>
              </a:rPr>
              <a:t>Local DVWA modules: SQL Injection, Reflected XSS, Stored XSS; request inspection with Burp Suite; partial OWASP ZAP scan.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794760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824C"/>
                </a:solidFill>
                <a:latin typeface="Aptos"/>
              </a:rPr>
              <a:t>AUTHORIZED TARGET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133087"/>
            <a:ext cx="6903720" cy="658368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288536"/>
            <a:ext cx="6400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C201E"/>
                </a:solidFill>
                <a:latin typeface="Consolas"/>
              </a:rPr>
              <a:t>http://127.0.0.1/dvwa/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867912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23434"/>
                </a:solidFill>
                <a:latin typeface="Aptos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224528"/>
            <a:ext cx="31089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C201E"/>
                </a:solidFill>
                <a:latin typeface="Aptos"/>
              </a:rPr>
              <a:t>Intentionally vulnerable local training lab only.
No production systems were tested.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824C"/>
                </a:solidFill>
                <a:latin typeface="Aptos"/>
              </a:rPr>
              <a:t>WEEK 06  /  WEB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201E"/>
                </a:solidFill>
                <a:latin typeface="Aptos"/>
              </a:rPr>
              <a:t>Lab environment and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658368" cy="50292"/>
          </a:xfrm>
          <a:prstGeom prst="rect">
            <a:avLst/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F6863"/>
                </a:solidFill>
                <a:latin typeface="Aptos"/>
              </a:rPr>
              <a:t>DG INTERNS HUB  •  CYBERSECURITY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E824C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" y="1485900"/>
            <a:ext cx="5166359" cy="2240279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VWA-Setup-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26885"/>
            <a:ext cx="5120640" cy="21583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3776472"/>
            <a:ext cx="5120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5F6863"/>
                </a:solidFill>
                <a:latin typeface="Aptos"/>
              </a:rPr>
              <a:t>Actual project screenshot: DVWA setup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81328"/>
            <a:ext cx="5166360" cy="960120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481328"/>
            <a:ext cx="73152" cy="960120"/>
          </a:xfrm>
          <a:prstGeom prst="roundRect">
            <a:avLst>
              <a:gd name="adj" fmla="val 12000"/>
            </a:avLst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45920"/>
            <a:ext cx="48006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201E"/>
                </a:solidFill>
                <a:latin typeface="Aptos"/>
              </a:rPr>
              <a:t>DVWA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66544"/>
            <a:ext cx="478231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F6863"/>
                </a:solidFill>
                <a:latin typeface="Aptos"/>
              </a:rPr>
              <a:t>Intentionally vulnerable web app used for controlled exercises.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15184"/>
            <a:ext cx="5166360" cy="960120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2615184"/>
            <a:ext cx="73152" cy="960120"/>
          </a:xfrm>
          <a:prstGeom prst="roundRect">
            <a:avLst>
              <a:gd name="adj" fmla="val 12000"/>
            </a:avLst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779776"/>
            <a:ext cx="48006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201E"/>
                </a:solidFill>
                <a:latin typeface="Aptos"/>
              </a:rPr>
              <a:t>Burp Suite Community Edition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200400"/>
            <a:ext cx="478231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F6863"/>
                </a:solidFill>
                <a:latin typeface="Aptos"/>
              </a:rPr>
              <a:t>HTTP history, request capture, and Repeater replay.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749039"/>
            <a:ext cx="5166360" cy="960120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73152" cy="960120"/>
          </a:xfrm>
          <a:prstGeom prst="roundRect">
            <a:avLst>
              <a:gd name="adj" fmla="val 12000"/>
            </a:avLst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913631"/>
            <a:ext cx="48006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201E"/>
                </a:solidFill>
                <a:latin typeface="Aptos"/>
              </a:rPr>
              <a:t>OWASP ZAP 2.17.0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334255"/>
            <a:ext cx="478231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F6863"/>
                </a:solidFill>
                <a:latin typeface="Aptos"/>
              </a:rPr>
              <a:t>Partial automated scan; alerts require manual validation.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074920"/>
            <a:ext cx="105156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F6863"/>
                </a:solidFill>
                <a:latin typeface="Aptos"/>
              </a:rPr>
              <a:t>Browser  •  Local Kali Linux lab  •  DVWA security levels Low / Medium / High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824C"/>
                </a:solidFill>
                <a:latin typeface="Aptos"/>
              </a:rPr>
              <a:t>WEEK 06  /  WEB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201E"/>
                </a:solidFill>
                <a:latin typeface="Aptos"/>
              </a:rPr>
              <a:t>SQL Injection — Low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658368" cy="50292"/>
          </a:xfrm>
          <a:prstGeom prst="rect">
            <a:avLst/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F6863"/>
                </a:solidFill>
                <a:latin typeface="Aptos"/>
              </a:rPr>
              <a:t>DG INTERNS HUB  •  CYBERSECURITY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E824C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824C"/>
                </a:solidFill>
                <a:latin typeface="Aptos"/>
              </a:rPr>
              <a:t>TEST 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10512"/>
            <a:ext cx="5257800" cy="512064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9384"/>
            <a:ext cx="4754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C201E"/>
                </a:solidFill>
                <a:latin typeface="Consolas"/>
              </a:rPr>
              <a:t>Normal: 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87168"/>
            <a:ext cx="5257800" cy="658368"/>
          </a:xfrm>
          <a:prstGeom prst="roundRect">
            <a:avLst>
              <a:gd name="adj" fmla="val 12000"/>
            </a:avLst>
          </a:prstGeom>
          <a:solidFill>
            <a:srgbClr val="E7F4EB"/>
          </a:solidFill>
          <a:ln>
            <a:solidFill>
              <a:srgbClr val="E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4754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5835"/>
                </a:solidFill>
                <a:latin typeface="Consolas"/>
              </a:rPr>
              <a:t>Payload:  1' OR '1'='1' 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401568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824C"/>
                </a:solidFill>
                <a:latin typeface="Aptos"/>
              </a:rPr>
              <a:t>OBSERVED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703320"/>
            <a:ext cx="5120640" cy="1554480"/>
          </a:xfrm>
          <a:prstGeom prst="rect">
            <a:avLst/>
          </a:prstGeom>
          <a:noFill/>
        </p:spPr>
        <p:txBody>
          <a:bodyPr wrap="square" lIns="36576" rIns="45720" tIns="36576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01E"/>
                </a:solidFill>
                <a:latin typeface="Aptos"/>
              </a:defRPr>
            </a:pPr>
            <a:r>
              <a:t>•  Normal input returned one user record.</a:t>
            </a:r>
          </a:p>
          <a:p>
            <a:pPr>
              <a:spcAft>
                <a:spcPts val="800"/>
              </a:spcAft>
              <a:defRPr sz="1600">
                <a:solidFill>
                  <a:srgbClr val="1C201E"/>
                </a:solidFill>
                <a:latin typeface="Aptos"/>
              </a:defRPr>
            </a:pPr>
            <a:r>
              <a:t>•  Injection payload returned multiple records.</a:t>
            </a:r>
          </a:p>
          <a:p>
            <a:pPr>
              <a:spcAft>
                <a:spcPts val="800"/>
              </a:spcAft>
              <a:defRPr sz="1600">
                <a:solidFill>
                  <a:srgbClr val="1C201E"/>
                </a:solidFill>
                <a:latin typeface="Aptos"/>
              </a:defRPr>
            </a:pPr>
            <a:r>
              <a:t>•  Confirmed demonstration in the local DVWA Low-security exercise.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9340" y="1549908"/>
            <a:ext cx="5257800" cy="3611879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QLi-02-Injection-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021" y="1572768"/>
            <a:ext cx="5054437" cy="3566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72200" y="5212080"/>
            <a:ext cx="5212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5F6863"/>
                </a:solidFill>
                <a:latin typeface="Aptos"/>
              </a:rPr>
              <a:t>Saved SQL Injection test screenshot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824C"/>
                </a:solidFill>
                <a:latin typeface="Aptos"/>
              </a:rPr>
              <a:t>WEEK 06  /  WEB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201E"/>
                </a:solidFill>
                <a:latin typeface="Aptos"/>
              </a:rPr>
              <a:t>Reflected XSS — Low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658368" cy="50292"/>
          </a:xfrm>
          <a:prstGeom prst="rect">
            <a:avLst/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F6863"/>
                </a:solidFill>
                <a:latin typeface="Aptos"/>
              </a:rPr>
              <a:t>DG INTERNS HUB  •  CYBERSECURITY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E824C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08760"/>
            <a:ext cx="1097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824C"/>
                </a:solidFill>
                <a:latin typeface="Aptos"/>
              </a:rPr>
              <a:t>PAYLOAD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5349240" cy="768096"/>
          </a:xfrm>
          <a:prstGeom prst="roundRect">
            <a:avLst>
              <a:gd name="adj" fmla="val 12000"/>
            </a:avLst>
          </a:prstGeom>
          <a:solidFill>
            <a:srgbClr val="E7F4EB"/>
          </a:solidFill>
          <a:ln>
            <a:solidFill>
              <a:srgbClr val="E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4937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5835"/>
                </a:solidFill>
                <a:latin typeface="Consolas"/>
              </a:rPr>
              <a:t>&lt;script&gt;alert('Reflected XSS')&lt;/script&gt;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907792"/>
            <a:ext cx="5212080" cy="1645920"/>
          </a:xfrm>
          <a:prstGeom prst="rect">
            <a:avLst/>
          </a:prstGeom>
          <a:noFill/>
        </p:spPr>
        <p:txBody>
          <a:bodyPr wrap="square" lIns="36576" rIns="45720" tIns="36576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01E"/>
                </a:solidFill>
                <a:latin typeface="Aptos"/>
              </a:defRPr>
            </a:pPr>
            <a:r>
              <a:t>•  The browser displayed an alert after submission.</a:t>
            </a:r>
          </a:p>
          <a:p>
            <a:pPr>
              <a:spcAft>
                <a:spcPts val="800"/>
              </a:spcAft>
              <a:defRPr sz="1600">
                <a:solidFill>
                  <a:srgbClr val="1C201E"/>
                </a:solidFill>
                <a:latin typeface="Aptos"/>
              </a:defRPr>
            </a:pPr>
            <a:r>
              <a:t>•  Input was reflected in the immediate response path.</a:t>
            </a:r>
          </a:p>
          <a:p>
            <a:pPr>
              <a:spcAft>
                <a:spcPts val="800"/>
              </a:spcAft>
              <a:defRPr sz="1600">
                <a:solidFill>
                  <a:srgbClr val="1C201E"/>
                </a:solidFill>
                <a:latin typeface="Aptos"/>
              </a:defRPr>
            </a:pPr>
            <a:r>
              <a:t>•  Observed script execution confirms this Low-security lab case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779" y="1577340"/>
            <a:ext cx="5120640" cy="3794759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flected-XSS-01-Alert-Execu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09871"/>
            <a:ext cx="5074920" cy="37296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640" y="5422392"/>
            <a:ext cx="5074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5F6863"/>
                </a:solidFill>
                <a:latin typeface="Aptos"/>
              </a:rPr>
              <a:t>Actual browser alert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824C"/>
                </a:solidFill>
                <a:latin typeface="Aptos"/>
              </a:rPr>
              <a:t>WEEK 06  /  WEB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201E"/>
                </a:solidFill>
                <a:latin typeface="Aptos"/>
              </a:rPr>
              <a:t>Stored XSS — Low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658368" cy="50292"/>
          </a:xfrm>
          <a:prstGeom prst="rect">
            <a:avLst/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F6863"/>
                </a:solidFill>
                <a:latin typeface="Aptos"/>
              </a:rPr>
              <a:t>DG INTERNS HUB  •  CYBERSECURITY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E824C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08760"/>
            <a:ext cx="1097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824C"/>
                </a:solidFill>
                <a:latin typeface="Aptos"/>
              </a:rPr>
              <a:t>PAYLOAD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5349240" cy="768096"/>
          </a:xfrm>
          <a:prstGeom prst="roundRect">
            <a:avLst>
              <a:gd name="adj" fmla="val 12000"/>
            </a:avLst>
          </a:prstGeom>
          <a:solidFill>
            <a:srgbClr val="E7F4EB"/>
          </a:solidFill>
          <a:ln>
            <a:solidFill>
              <a:srgbClr val="E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4937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5835"/>
                </a:solidFill>
                <a:latin typeface="Consolas"/>
              </a:rPr>
              <a:t>&lt;script&gt;alert('Stored XSS')&lt;/script&gt;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907792"/>
            <a:ext cx="5212080" cy="1645920"/>
          </a:xfrm>
          <a:prstGeom prst="rect">
            <a:avLst/>
          </a:prstGeom>
          <a:noFill/>
        </p:spPr>
        <p:txBody>
          <a:bodyPr wrap="square" lIns="36576" rIns="45720" tIns="36576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01E"/>
                </a:solidFill>
                <a:latin typeface="Aptos"/>
              </a:defRPr>
            </a:pPr>
            <a:r>
              <a:t>•  Payload submitted through the guestbook.</a:t>
            </a:r>
          </a:p>
          <a:p>
            <a:pPr>
              <a:spcAft>
                <a:spcPts val="800"/>
              </a:spcAft>
              <a:defRPr sz="1600">
                <a:solidFill>
                  <a:srgbClr val="1C201E"/>
                </a:solidFill>
                <a:latin typeface="Aptos"/>
              </a:defRPr>
            </a:pPr>
            <a:r>
              <a:t>•  Alert appeared when stored content was rendered.</a:t>
            </a:r>
          </a:p>
          <a:p>
            <a:pPr>
              <a:spcAft>
                <a:spcPts val="800"/>
              </a:spcAft>
              <a:defRPr sz="1600">
                <a:solidFill>
                  <a:srgbClr val="1C201E"/>
                </a:solidFill>
                <a:latin typeface="Aptos"/>
              </a:defRPr>
            </a:pPr>
            <a:r>
              <a:t>•  Demonstrates a stored-content execution path in the local lab.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779" y="1577340"/>
            <a:ext cx="5120640" cy="3794759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tored-XSS-01-Alert-Execu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53857"/>
            <a:ext cx="5074920" cy="36417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640" y="5422392"/>
            <a:ext cx="5074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5F6863"/>
                </a:solidFill>
                <a:latin typeface="Aptos"/>
              </a:rPr>
              <a:t>Actual guestbook alert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824C"/>
                </a:solidFill>
                <a:latin typeface="Aptos"/>
              </a:rPr>
              <a:t>WEEK 06  /  WEB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201E"/>
                </a:solidFill>
                <a:latin typeface="Aptos"/>
              </a:rPr>
              <a:t>Low / Medium / High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658368" cy="50292"/>
          </a:xfrm>
          <a:prstGeom prst="rect">
            <a:avLst/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F6863"/>
                </a:solidFill>
                <a:latin typeface="Aptos"/>
              </a:rPr>
              <a:t>DG INTERNS HUB  •  CYBERSECURITY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E824C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1691640" cy="438912"/>
          </a:xfrm>
          <a:prstGeom prst="roundRect">
            <a:avLst>
              <a:gd name="adj" fmla="val 12000"/>
            </a:avLst>
          </a:prstGeom>
          <a:solidFill>
            <a:srgbClr val="125835"/>
          </a:solidFill>
          <a:ln>
            <a:solidFill>
              <a:srgbClr val="125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572768"/>
            <a:ext cx="154533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481328"/>
            <a:ext cx="2880360" cy="438912"/>
          </a:xfrm>
          <a:prstGeom prst="roundRect">
            <a:avLst>
              <a:gd name="adj" fmla="val 12000"/>
            </a:avLst>
          </a:prstGeom>
          <a:solidFill>
            <a:srgbClr val="125835"/>
          </a:solidFill>
          <a:ln>
            <a:solidFill>
              <a:srgbClr val="125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1572768"/>
            <a:ext cx="27340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13248" y="1481328"/>
            <a:ext cx="2834640" cy="438912"/>
          </a:xfrm>
          <a:prstGeom prst="roundRect">
            <a:avLst>
              <a:gd name="adj" fmla="val 12000"/>
            </a:avLst>
          </a:prstGeom>
          <a:solidFill>
            <a:srgbClr val="125835"/>
          </a:solidFill>
          <a:ln>
            <a:solidFill>
              <a:srgbClr val="125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1572768"/>
            <a:ext cx="268833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Medium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481328"/>
            <a:ext cx="3108960" cy="438912"/>
          </a:xfrm>
          <a:prstGeom prst="roundRect">
            <a:avLst>
              <a:gd name="adj" fmla="val 12000"/>
            </a:avLst>
          </a:prstGeom>
          <a:solidFill>
            <a:srgbClr val="125835"/>
          </a:solidFill>
          <a:ln>
            <a:solidFill>
              <a:srgbClr val="125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1572768"/>
            <a:ext cx="29626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High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011680"/>
            <a:ext cx="1691640" cy="987552"/>
          </a:xfrm>
          <a:prstGeom prst="roundRect">
            <a:avLst>
              <a:gd name="adj" fmla="val 12000"/>
            </a:avLst>
          </a:prstGeom>
          <a:solidFill>
            <a:srgbClr val="E7F4EB"/>
          </a:solidFill>
          <a:ln>
            <a:solidFill>
              <a:srgbClr val="E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2130552"/>
            <a:ext cx="149047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C201E"/>
                </a:solidFill>
                <a:latin typeface="Aptos"/>
              </a:rPr>
              <a:t>Reflected XSS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011680"/>
            <a:ext cx="2880360" cy="987552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23744" y="2130552"/>
            <a:ext cx="2679191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C201E"/>
                </a:solidFill>
                <a:latin typeface="Aptos"/>
              </a:rPr>
              <a:t>Alert observed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13248" y="2011680"/>
            <a:ext cx="2834640" cy="987552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13832" y="2130552"/>
            <a:ext cx="263347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C201E"/>
                </a:solidFill>
                <a:latin typeface="Aptos"/>
              </a:rPr>
              <a:t>Payload described as filtered / 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2011680"/>
            <a:ext cx="3108960" cy="987552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130552"/>
            <a:ext cx="2907791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C201E"/>
                </a:solidFill>
                <a:latin typeface="Aptos"/>
              </a:rPr>
              <a:t>Output shown as “Hello &gt;”; no alert reported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127248"/>
            <a:ext cx="1691640" cy="987552"/>
          </a:xfrm>
          <a:prstGeom prst="roundRect">
            <a:avLst>
              <a:gd name="adj" fmla="val 12000"/>
            </a:avLst>
          </a:prstGeom>
          <a:solidFill>
            <a:srgbClr val="E7F4EB"/>
          </a:solidFill>
          <a:ln>
            <a:solidFill>
              <a:srgbClr val="E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246120"/>
            <a:ext cx="149047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C201E"/>
                </a:solidFill>
                <a:latin typeface="Aptos"/>
              </a:rPr>
              <a:t>Stored XSS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23160" y="3127248"/>
            <a:ext cx="2880360" cy="987552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23744" y="3246120"/>
            <a:ext cx="2679191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C201E"/>
                </a:solidFill>
                <a:latin typeface="Aptos"/>
              </a:rPr>
              <a:t>Alert observed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13248" y="3127248"/>
            <a:ext cx="2834640" cy="987552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13832" y="3246120"/>
            <a:ext cx="263347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C201E"/>
                </a:solidFill>
                <a:latin typeface="Aptos"/>
              </a:rPr>
              <a:t>Payload appeared as text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66760" y="3127248"/>
            <a:ext cx="3108960" cy="987552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4" y="3246120"/>
            <a:ext cx="2907791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C201E"/>
                </a:solidFill>
                <a:latin typeface="Aptos"/>
              </a:rPr>
              <a:t>Payload appeared as text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242816"/>
            <a:ext cx="1691640" cy="987552"/>
          </a:xfrm>
          <a:prstGeom prst="roundRect">
            <a:avLst>
              <a:gd name="adj" fmla="val 12000"/>
            </a:avLst>
          </a:prstGeom>
          <a:solidFill>
            <a:srgbClr val="E7F4EB"/>
          </a:solidFill>
          <a:ln>
            <a:solidFill>
              <a:srgbClr val="E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4361688"/>
            <a:ext cx="149047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C201E"/>
                </a:solidFill>
                <a:latin typeface="Aptos"/>
              </a:rPr>
              <a:t>SQL Injection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23160" y="4242816"/>
            <a:ext cx="2880360" cy="987552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23744" y="4361688"/>
            <a:ext cx="2679191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C201E"/>
                </a:solidFill>
                <a:latin typeface="Aptos"/>
              </a:rPr>
              <a:t>Multiple records returned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13248" y="4242816"/>
            <a:ext cx="2834640" cy="987552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13832" y="4361688"/>
            <a:ext cx="263347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C201E"/>
                </a:solidFill>
                <a:latin typeface="Aptos"/>
              </a:rPr>
              <a:t>Five IDs/screenshots present; result interpretation needs verification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66760" y="4242816"/>
            <a:ext cx="3108960" cy="987552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67344" y="4361688"/>
            <a:ext cx="2907791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C201E"/>
                </a:solidFill>
                <a:latin typeface="Aptos"/>
              </a:rPr>
              <a:t>Five IDs/screenshots present; result interpretation needs verification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5559552"/>
            <a:ext cx="106070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F6863"/>
                </a:solidFill>
                <a:latin typeface="Aptos"/>
              </a:rPr>
              <a:t>Interpretation: observations are not a complete security-control assessment. Retest with repeatable cases and inspect exact request/response behavior.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824C"/>
                </a:solidFill>
                <a:latin typeface="Aptos"/>
              </a:rPr>
              <a:t>WEEK 06  /  WEB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201E"/>
                </a:solidFill>
                <a:latin typeface="Aptos"/>
              </a:rPr>
              <a:t>Burp Suite — request / response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658368" cy="50292"/>
          </a:xfrm>
          <a:prstGeom prst="rect">
            <a:avLst/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F6863"/>
                </a:solidFill>
                <a:latin typeface="Aptos"/>
              </a:rPr>
              <a:t>DG INTERNS HUB  •  CYBERSECURITY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E824C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" y="1485900"/>
            <a:ext cx="5394959" cy="2560320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urp-02-SQLi-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34" y="1508760"/>
            <a:ext cx="5326506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4096512"/>
            <a:ext cx="5349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5F6863"/>
                </a:solidFill>
                <a:latin typeface="Aptos"/>
              </a:rPr>
              <a:t>Captured SQL Injection request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3348" y="1485900"/>
            <a:ext cx="5330952" cy="2560320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urp-03-SQLi-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517124"/>
            <a:ext cx="5285232" cy="249787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36208" y="4096512"/>
            <a:ext cx="52852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5F6863"/>
                </a:solidFill>
                <a:latin typeface="Aptos"/>
              </a:rPr>
              <a:t>Corresponding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370832"/>
            <a:ext cx="5212080" cy="1051560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4370832"/>
            <a:ext cx="73152" cy="1051560"/>
          </a:xfrm>
          <a:prstGeom prst="roundRect">
            <a:avLst>
              <a:gd name="adj" fmla="val 12000"/>
            </a:avLst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35424"/>
            <a:ext cx="48463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201E"/>
                </a:solidFill>
                <a:latin typeface="Aptos"/>
              </a:rPr>
              <a:t>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56048"/>
            <a:ext cx="4828032" cy="3383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6863"/>
                </a:solidFill>
                <a:latin typeface="Aptos"/>
              </a:rPr>
              <a:t>Capture in HTTP history → send to Repeater → replay locally.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4370832"/>
            <a:ext cx="5212080" cy="1051560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6208" y="4370832"/>
            <a:ext cx="73152" cy="1051560"/>
          </a:xfrm>
          <a:prstGeom prst="roundRect">
            <a:avLst>
              <a:gd name="adj" fmla="val 12000"/>
            </a:avLst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4535424"/>
            <a:ext cx="48463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201E"/>
                </a:solidFill>
                <a:latin typeface="Aptos"/>
              </a:rPr>
              <a:t>Observed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4956048"/>
            <a:ext cx="4828032" cy="3383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6863"/>
                </a:solidFill>
                <a:latin typeface="Aptos"/>
              </a:rPr>
              <a:t>Project notes record HTTP 200 and multiple records for the Low-security test.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715000"/>
            <a:ext cx="10607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863"/>
                </a:solidFill>
                <a:latin typeface="Aptos"/>
              </a:rPr>
              <a:t>Evidence relates to the local DVWA endpoint /dvwa/vulnerabilities/sqli/.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824C"/>
                </a:solidFill>
                <a:latin typeface="Aptos"/>
              </a:rPr>
              <a:t>WEEK 06  /  WEB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201E"/>
                </a:solidFill>
                <a:latin typeface="Aptos"/>
              </a:rPr>
              <a:t>OWASP ZAP — partial scan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658368" cy="50292"/>
          </a:xfrm>
          <a:prstGeom prst="rect">
            <a:avLst/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F6863"/>
                </a:solidFill>
                <a:latin typeface="Aptos"/>
              </a:rPr>
              <a:t>DG INTERNS HUB  •  CYBERSECURITY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E824C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618488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1E824C"/>
                </a:solidFill>
                <a:latin typeface="Aptos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029968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F6863"/>
                </a:solidFill>
                <a:latin typeface="Aptos"/>
              </a:rPr>
              <a:t>Total alerts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3512" y="1481328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1618488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B23434"/>
                </a:solidFill>
                <a:latin typeface="Aptos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029968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F6863"/>
                </a:solidFill>
                <a:latin typeface="Aptos"/>
              </a:rPr>
              <a:t>High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21224" y="1481328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0952" y="1618488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AD700E"/>
                </a:solidFill>
                <a:latin typeface="Apto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2029968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F6863"/>
                </a:solidFill>
                <a:latin typeface="Aptos"/>
              </a:rPr>
              <a:t>Medium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88936" y="1481328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98663" y="1618488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1E824C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98663" y="2029968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F6863"/>
                </a:solidFill>
                <a:latin typeface="Aptos"/>
              </a:rPr>
              <a:t>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56648" y="1481328"/>
            <a:ext cx="2057400" cy="960120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66376" y="1618488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5F6863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66376" y="2029968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F6863"/>
                </a:solidFill>
                <a:latin typeface="Aptos"/>
              </a:rPr>
              <a:t>Informational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" y="2720340"/>
            <a:ext cx="6446520" cy="2560320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ZAP-01-Alert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272" y="2743200"/>
            <a:ext cx="5704719" cy="2514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13232" y="5330952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5F6863"/>
                </a:solidFill>
                <a:latin typeface="Aptos"/>
              </a:rPr>
              <a:t>Saved ZAP alert summary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60" y="2880360"/>
            <a:ext cx="3886200" cy="1325880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52360" y="2880360"/>
            <a:ext cx="73152" cy="1325880"/>
          </a:xfrm>
          <a:prstGeom prst="roundRect">
            <a:avLst>
              <a:gd name="adj" fmla="val 12000"/>
            </a:avLst>
          </a:prstGeom>
          <a:solidFill>
            <a:srgbClr val="AD700E"/>
          </a:solidFill>
          <a:ln>
            <a:solidFill>
              <a:srgbClr val="AD7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53528" y="3044952"/>
            <a:ext cx="35204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201E"/>
                </a:solidFill>
                <a:latin typeface="Aptos"/>
              </a:rPr>
              <a:t>Important limitation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3528" y="3465576"/>
            <a:ext cx="3502152" cy="61264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F6863"/>
                </a:solidFill>
                <a:latin typeface="Aptos"/>
              </a:rPr>
              <a:t>This was a partial scan. Alerts are leads for triage, not confirmed vulnerabilities.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4526280"/>
            <a:ext cx="36576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C201E"/>
                </a:solidFill>
                <a:latin typeface="Aptos"/>
              </a:rPr>
              <a:t>Next step: manually validate each relevant alert, affected URL, evidence, and remediation.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824C"/>
                </a:solidFill>
                <a:latin typeface="Aptos"/>
              </a:rPr>
              <a:t>WEEK 06  /  WEB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201E"/>
                </a:solidFill>
                <a:latin typeface="Aptos"/>
              </a:rPr>
              <a:t>Key findings and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658368" cy="50292"/>
          </a:xfrm>
          <a:prstGeom prst="rect">
            <a:avLst/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F6863"/>
                </a:solidFill>
                <a:latin typeface="Aptos"/>
              </a:rPr>
              <a:t>DG INTERNS HUB  •  CYBERSECURITY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E824C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5349240" cy="1417320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73152" cy="1417320"/>
          </a:xfrm>
          <a:prstGeom prst="roundRect">
            <a:avLst>
              <a:gd name="adj" fmla="val 12000"/>
            </a:avLst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73351"/>
            <a:ext cx="4983479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201E"/>
                </a:solidFill>
                <a:latin typeface="Aptos"/>
              </a:rPr>
              <a:t>SQL 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93976"/>
            <a:ext cx="496519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F6863"/>
                </a:solidFill>
                <a:latin typeface="Aptos"/>
              </a:rPr>
              <a:t>Use prepared statements / parameterized queries. Avoid SQL string concatenation; restrict DB account privileges.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257800" cy="1417320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508760"/>
            <a:ext cx="73152" cy="1417320"/>
          </a:xfrm>
          <a:prstGeom prst="roundRect">
            <a:avLst>
              <a:gd name="adj" fmla="val 12000"/>
            </a:avLst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673351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201E"/>
                </a:solidFill>
                <a:latin typeface="Aptos"/>
              </a:rPr>
              <a:t>Reflected &amp; Stored XSS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093976"/>
            <a:ext cx="487375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F6863"/>
                </a:solidFill>
                <a:latin typeface="Aptos"/>
              </a:rPr>
              <a:t>Apply context-aware output encoding and safe templating. Avoid unsafe HTML/DOM sinks; sanitize only when HTML is required.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82112"/>
            <a:ext cx="5349240" cy="1417320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182112"/>
            <a:ext cx="73152" cy="1417320"/>
          </a:xfrm>
          <a:prstGeom prst="roundRect">
            <a:avLst>
              <a:gd name="adj" fmla="val 12000"/>
            </a:avLst>
          </a:prstGeom>
          <a:solidFill>
            <a:srgbClr val="AD700E"/>
          </a:solidFill>
          <a:ln>
            <a:solidFill>
              <a:srgbClr val="AD7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346704"/>
            <a:ext cx="4983479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201E"/>
                </a:solidFill>
                <a:latin typeface="Aptos"/>
              </a:rPr>
              <a:t>Scanner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767328"/>
            <a:ext cx="496519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F6863"/>
                </a:solidFill>
                <a:latin typeface="Aptos"/>
              </a:rPr>
              <a:t>Manually validate ZAP alerts against the affected endpoint and reproduce the behavior before assigning severity.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182112"/>
            <a:ext cx="5257800" cy="1417320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>
            <a:solidFill>
              <a:srgbClr val="F2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3182112"/>
            <a:ext cx="73152" cy="1417320"/>
          </a:xfrm>
          <a:prstGeom prst="roundRect">
            <a:avLst>
              <a:gd name="adj" fmla="val 12000"/>
            </a:avLst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346704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201E"/>
                </a:solidFill>
                <a:latin typeface="Aptos"/>
              </a:rPr>
              <a:t>Retest after fixes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767328"/>
            <a:ext cx="487375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F6863"/>
                </a:solidFill>
                <a:latin typeface="Aptos"/>
              </a:rPr>
              <a:t>Repeat the same test cases; confirm payloads are inert and normal functionality remains intact.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074920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5F6863"/>
                </a:solidFill>
                <a:latin typeface="Aptos"/>
              </a:rPr>
              <a:t>Defense in depth: security headers / CSP can help, but do not replace correct query handling or output encoding.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824C"/>
                </a:solidFill>
                <a:latin typeface="Aptos"/>
              </a:rPr>
              <a:t>WEEK 06  /  WEB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C201E"/>
                </a:solidFill>
                <a:latin typeface="Aptos"/>
              </a:rPr>
              <a:t>Learning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658368" cy="50292"/>
          </a:xfrm>
          <a:prstGeom prst="rect">
            <a:avLst/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F6863"/>
                </a:solidFill>
                <a:latin typeface="Aptos"/>
              </a:rPr>
              <a:t>DG INTERNS HUB  •  CYBERSECURITY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E824C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36192"/>
            <a:ext cx="594360" cy="594360"/>
          </a:xfrm>
          <a:prstGeom prst="roundRect">
            <a:avLst>
              <a:gd name="adj" fmla="val 12000"/>
            </a:avLst>
          </a:prstGeom>
          <a:solidFill>
            <a:srgbClr val="E7F4EB"/>
          </a:solidFill>
          <a:ln>
            <a:solidFill>
              <a:srgbClr val="E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0784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25835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63624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201E"/>
                </a:solidFill>
                <a:latin typeface="Aptos"/>
              </a:rPr>
              <a:t>Practical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563624"/>
            <a:ext cx="68122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F6863"/>
                </a:solidFill>
                <a:latin typeface="Aptos"/>
              </a:rPr>
              <a:t>Ran controlled SQLi and XSS exercises in a local vulnerable lab.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596896"/>
            <a:ext cx="594360" cy="594360"/>
          </a:xfrm>
          <a:prstGeom prst="roundRect">
            <a:avLst>
              <a:gd name="adj" fmla="val 12000"/>
            </a:avLst>
          </a:prstGeom>
          <a:solidFill>
            <a:srgbClr val="E7F4EB"/>
          </a:solidFill>
          <a:ln>
            <a:solidFill>
              <a:srgbClr val="E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61488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25835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624327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201E"/>
                </a:solidFill>
                <a:latin typeface="Aptos"/>
              </a:rPr>
              <a:t>HTTP inspection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624327"/>
            <a:ext cx="68122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F6863"/>
                </a:solidFill>
                <a:latin typeface="Aptos"/>
              </a:rPr>
              <a:t>Captured and replayed a request in Burp Suite Repeater.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657600"/>
            <a:ext cx="594360" cy="594360"/>
          </a:xfrm>
          <a:prstGeom prst="roundRect">
            <a:avLst>
              <a:gd name="adj" fmla="val 12000"/>
            </a:avLst>
          </a:prstGeom>
          <a:solidFill>
            <a:srgbClr val="E7F4EB"/>
          </a:solidFill>
          <a:ln>
            <a:solidFill>
              <a:srgbClr val="E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22191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25835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68503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201E"/>
                </a:solidFill>
                <a:latin typeface="Aptos"/>
              </a:rPr>
              <a:t>Evidence capture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685032"/>
            <a:ext cx="68122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F6863"/>
                </a:solidFill>
                <a:latin typeface="Aptos"/>
              </a:rPr>
              <a:t>Organized screenshots and recorded observed behavior.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718304"/>
            <a:ext cx="594360" cy="594360"/>
          </a:xfrm>
          <a:prstGeom prst="roundRect">
            <a:avLst>
              <a:gd name="adj" fmla="val 12000"/>
            </a:avLst>
          </a:prstGeom>
          <a:solidFill>
            <a:srgbClr val="E7F4EB"/>
          </a:solidFill>
          <a:ln>
            <a:solidFill>
              <a:srgbClr val="E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82896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25835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745736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201E"/>
                </a:solidFill>
                <a:latin typeface="Aptos"/>
              </a:rPr>
              <a:t>Cautious 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745736"/>
            <a:ext cx="68122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F6863"/>
                </a:solidFill>
                <a:latin typeface="Aptos"/>
              </a:rPr>
              <a:t>Separated direct demonstrations from unvalidated scanner alerts and uncertain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30352"/>
            <a:ext cx="5486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E824C"/>
                </a:solidFill>
                <a:latin typeface="Aptos"/>
              </a:rPr>
              <a:t>WEEK 06  /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996696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C201E"/>
                </a:solidFill>
                <a:latin typeface="Aptos"/>
              </a:rPr>
              <a:t>Demonstrated in the local lab.
Not yet a production assessment.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2761488"/>
            <a:ext cx="777240" cy="64008"/>
          </a:xfrm>
          <a:prstGeom prst="rect">
            <a:avLst/>
          </a:prstGeom>
          <a:solidFill>
            <a:srgbClr val="1E824C"/>
          </a:solidFill>
          <a:ln>
            <a:solidFill>
              <a:srgbClr val="1E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3154680"/>
            <a:ext cx="7772400" cy="2194560"/>
          </a:xfrm>
          <a:prstGeom prst="rect">
            <a:avLst/>
          </a:prstGeom>
          <a:noFill/>
        </p:spPr>
        <p:txBody>
          <a:bodyPr wrap="square" lIns="36576" rIns="45720" tIns="36576" bIns="18288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C201E"/>
                </a:solidFill>
                <a:latin typeface="Aptos"/>
              </a:defRPr>
            </a:pPr>
            <a:r>
              <a:t>•  SQL Injection returned multiple records at Low security.</a:t>
            </a:r>
          </a:p>
          <a:p>
            <a:pPr>
              <a:spcAft>
                <a:spcPts val="900"/>
              </a:spcAft>
              <a:defRPr sz="1600">
                <a:solidFill>
                  <a:srgbClr val="1C201E"/>
                </a:solidFill>
                <a:latin typeface="Aptos"/>
              </a:defRPr>
            </a:pPr>
            <a:r>
              <a:t>•  Reflected and Stored XSS each triggered an alert at Low security.</a:t>
            </a:r>
          </a:p>
          <a:p>
            <a:pPr>
              <a:spcAft>
                <a:spcPts val="900"/>
              </a:spcAft>
              <a:defRPr sz="1600">
                <a:solidFill>
                  <a:srgbClr val="1C201E"/>
                </a:solidFill>
                <a:latin typeface="Aptos"/>
              </a:defRPr>
            </a:pPr>
            <a:r>
              <a:t>•  Burp evidence supports local request/response inspection; ZAP results remain preliminary.</a:t>
            </a:r>
          </a:p>
          <a:p>
            <a:pPr>
              <a:spcAft>
                <a:spcPts val="900"/>
              </a:spcAft>
              <a:defRPr sz="1600">
                <a:solidFill>
                  <a:srgbClr val="1C201E"/>
                </a:solidFill>
                <a:latin typeface="Aptos"/>
              </a:defRPr>
            </a:pPr>
            <a:r>
              <a:t>•  Medium/High SQLi behavior and individual scanner alerts need further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2057400"/>
            <a:ext cx="2331720" cy="2377440"/>
          </a:xfrm>
          <a:prstGeom prst="roundRect">
            <a:avLst>
              <a:gd name="adj" fmla="val 12000"/>
            </a:avLst>
          </a:prstGeom>
          <a:solidFill>
            <a:srgbClr val="E7F4EB"/>
          </a:solidFill>
          <a:ln>
            <a:solidFill>
              <a:srgbClr val="E7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89720" y="2395728"/>
            <a:ext cx="1783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25835"/>
                </a:solidFill>
                <a:latin typeface="Aptos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25712" y="2907792"/>
            <a:ext cx="192024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C201E"/>
                </a:solidFill>
                <a:latin typeface="Aptos"/>
              </a:rPr>
              <a:t>Validate • Remediate
Retest • Document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6080760"/>
            <a:ext cx="7132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F6863"/>
                </a:solidFill>
                <a:latin typeface="Aptos"/>
              </a:rPr>
              <a:t>SAMYUKTHA S.  |  DG/SEPTEMBER/CYBER/102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