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2412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94B"/>
                </a:solidFill>
                <a:latin typeface="Aptos"/>
              </a:defRPr>
            </a:pPr>
            <a:r>
              <a:t>DG INTERNS HUB • CYBERSECURITY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2412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3302A"/>
                </a:solidFill>
                <a:latin typeface="Aptos"/>
              </a:defRPr>
            </a:pPr>
            <a:r>
              <a:t>WEEK 7</a:t>
            </a:r>
          </a:p>
          <a:p>
            <a:pPr algn="l">
              <a:spcAft>
                <a:spcPts val="700"/>
              </a:spcAft>
              <a:defRPr sz="3100" b="1">
                <a:solidFill>
                  <a:srgbClr val="23302A"/>
                </a:solidFill>
                <a:latin typeface="Aptos"/>
              </a:defRPr>
            </a:pPr>
            <a:r>
              <a:t>WEB APPLICATION TESTING WITH BURP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090672"/>
            <a:ext cx="1828800" cy="5486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969264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53635B"/>
                </a:solidFill>
                <a:latin typeface="Aptos"/>
              </a:defRPr>
            </a:pPr>
            <a:r>
              <a:t>Vulnerability Assessment &amp; Penetration Testing (VAPT)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53635B"/>
                </a:solidFill>
                <a:latin typeface="Aptos"/>
              </a:defRPr>
            </a:pPr>
            <a:r>
              <a:t>Practical Learning and Evidence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17720"/>
            <a:ext cx="4663440" cy="105156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745736"/>
            <a:ext cx="4334255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7694B"/>
                </a:solidFill>
                <a:latin typeface="Aptos"/>
              </a:defRPr>
            </a:pPr>
            <a:r>
              <a:t>SUBMITTED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148072"/>
            <a:ext cx="4334255" cy="3931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SAMYUKTHA S.  |  DG/SEPTEMBER/CYBER/102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09160"/>
            <a:ext cx="44805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53635B"/>
                </a:solidFill>
                <a:latin typeface="Aptos"/>
              </a:defRPr>
            </a:pPr>
            <a:r>
              <a:t>Authorized local testing only</a:t>
            </a:r>
          </a:p>
          <a:p>
            <a:pPr algn="l">
              <a:spcAft>
                <a:spcPts val="700"/>
              </a:spcAft>
              <a:defRPr sz="1500" b="1">
                <a:solidFill>
                  <a:srgbClr val="53635B"/>
                </a:solidFill>
                <a:latin typeface="Aptos"/>
              </a:defRPr>
            </a:pPr>
            <a:r>
              <a:t>Target: DVWA on localhost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Objective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96596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4928616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3302A"/>
                </a:solidFill>
                <a:latin typeface="Aptos"/>
              </a:defRPr>
            </a:pPr>
            <a:r>
              <a:t>Use Burp Suite Community Edition to intercept web traffic, map application routes, and investigate selected input-handling weaknesses in a controlled lab.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196596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64792"/>
            <a:ext cx="4928616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Application: DVWA at http://127.0.0.1/dvwa/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Proxy: 127.0.0.1:8080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Testing was limited to the local, authorized training environment.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7694B"/>
                </a:solidFill>
                <a:latin typeface="Aptos"/>
              </a:defRPr>
            </a:pPr>
            <a:r>
              <a:t>Testing 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1737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2A"/>
                </a:solidFill>
                <a:latin typeface="Aptos"/>
              </a:defRPr>
            </a:pPr>
            <a:r>
              <a:t>•  Capture requests and responses before drawing conclusions.</a:t>
            </a:r>
          </a:p>
          <a:p>
            <a:pPr>
              <a:spcAft>
                <a:spcPts val="1200"/>
              </a:spcAft>
              <a:defRPr sz="1700">
                <a:solidFill>
                  <a:srgbClr val="23302A"/>
                </a:solidFill>
                <a:latin typeface="Aptos"/>
              </a:defRPr>
            </a:pPr>
            <a:r>
              <a:t>•  Use Repeater for controlled, individual request changes.</a:t>
            </a:r>
          </a:p>
          <a:p>
            <a:pPr>
              <a:spcAft>
                <a:spcPts val="1200"/>
              </a:spcAft>
              <a:defRPr sz="1700">
                <a:solidFill>
                  <a:srgbClr val="23302A"/>
                </a:solidFill>
                <a:latin typeface="Aptos"/>
              </a:defRPr>
            </a:pPr>
            <a:r>
              <a:t>•  Record confirmed behaviour separately from untested or inconclusive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Testing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057400" cy="224028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17282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7694B"/>
                </a:solidFill>
                <a:latin typeface="Aptos"/>
              </a:defRPr>
            </a:pPr>
            <a:r>
              <a:t>01  Configure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59152"/>
            <a:ext cx="1728216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3302A"/>
                </a:solidFill>
                <a:latin typeface="Aptos"/>
              </a:defRPr>
            </a:pPr>
            <a:r>
              <a:t>Set browser proxy and verify Burp interception.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1" y="1828800"/>
            <a:ext cx="2057400" cy="224028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3" y="1956816"/>
            <a:ext cx="17282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7694B"/>
                </a:solidFill>
                <a:latin typeface="Aptos"/>
              </a:defRPr>
            </a:pPr>
            <a:r>
              <a:t>02 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3" y="2359152"/>
            <a:ext cx="1728216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3302A"/>
                </a:solidFill>
                <a:latin typeface="Aptos"/>
              </a:defRPr>
            </a:pPr>
            <a:r>
              <a:t>Browse DVWA and review the Target site map.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66944" y="1828800"/>
            <a:ext cx="2057400" cy="224028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31536" y="1956816"/>
            <a:ext cx="17282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7694B"/>
                </a:solidFill>
                <a:latin typeface="Aptos"/>
              </a:defRPr>
            </a:pPr>
            <a:r>
              <a:t>03 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359152"/>
            <a:ext cx="1728216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3302A"/>
                </a:solidFill>
                <a:latin typeface="Aptos"/>
              </a:defRPr>
            </a:pPr>
            <a:r>
              <a:t>Send selected requests to Repeater and inspect responses.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828800"/>
            <a:ext cx="2057400" cy="224028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7" y="1956816"/>
            <a:ext cx="17282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7694B"/>
                </a:solidFill>
                <a:latin typeface="Aptos"/>
              </a:defRPr>
            </a:pPr>
            <a:r>
              <a:t>04 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359152"/>
            <a:ext cx="1728216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3302A"/>
                </a:solidFill>
                <a:latin typeface="Aptos"/>
              </a:defRPr>
            </a:pPr>
            <a:r>
              <a:t>Confirm behaviour in the browser and capture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93807" y="1828800"/>
            <a:ext cx="2057400" cy="224028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399" y="1956816"/>
            <a:ext cx="17282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7694B"/>
                </a:solidFill>
                <a:latin typeface="Aptos"/>
              </a:defRPr>
            </a:pPr>
            <a:r>
              <a:t>05 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399" y="2359152"/>
            <a:ext cx="1728216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3302A"/>
                </a:solidFill>
                <a:latin typeface="Aptos"/>
              </a:defRPr>
            </a:pPr>
            <a:r>
              <a:t>Document impact, limits, and practical remediation.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1042416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3302A"/>
                </a:solidFill>
                <a:latin typeface="Aptos"/>
              </a:defRPr>
            </a:pPr>
            <a:r>
              <a:t>Evidence-led workflow: a payload or unusual response alone is not enough; conclusions are based on the observed application behaviour and the captured request/response.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Burp Setup and Interception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20640" cy="196596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4791455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PROXY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4791455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Burp proxy listener: 127.0.0.1:8080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Browser traffic was routed through Burp to inspect HTTP requests and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57800" cy="196596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HTTPS AND LOGIN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764792"/>
            <a:ext cx="4928616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The lab included HTTPS interception and capture of a login POST request. Review method, path, parameters, cookies, and response status.</a:t>
            </a:r>
          </a:p>
        </p:txBody>
      </p:sp>
      <p:pic>
        <p:nvPicPr>
          <p:cNvPr id="12" name="Picture 11" descr="01-Burp-Login-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66160"/>
            <a:ext cx="4983480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779008"/>
            <a:ext cx="4983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35B"/>
                </a:solidFill>
                <a:latin typeface="Aptos"/>
              </a:defRPr>
            </a:pPr>
            <a:r>
              <a:t>Login POST evidence</a:t>
            </a:r>
          </a:p>
        </p:txBody>
      </p:sp>
      <p:pic>
        <p:nvPicPr>
          <p:cNvPr id="14" name="Picture 13" descr="02-Burp-HTTPS-Inter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66160"/>
            <a:ext cx="4983480" cy="2148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5779008"/>
            <a:ext cx="4983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35B"/>
                </a:solidFill>
                <a:latin typeface="Aptos"/>
              </a:defRPr>
            </a:pPr>
            <a:r>
              <a:t>HTTPS interception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Reconnaissance and Attack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92024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SITE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4928616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The Target site map was populated by browsing the local DVWA application. It helped identify reachable routes and areas for manual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192024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WHAT WAS RECORDED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64792"/>
            <a:ext cx="4928616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Observed pages included login/security areas and training modules such as SQL injection, reflected XSS, stored XSS, upload, and CSRF.</a:t>
            </a:r>
          </a:p>
        </p:txBody>
      </p:sp>
      <p:pic>
        <p:nvPicPr>
          <p:cNvPr id="12" name="Picture 11" descr="03-DVWA-Sit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20440"/>
            <a:ext cx="6400800" cy="24231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35240" y="3657600"/>
            <a:ext cx="3474720" cy="182880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3785615"/>
            <a:ext cx="314553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94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4187952"/>
            <a:ext cx="3145536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A route appearing in the site map indicates discovery—not that the route is vulnerable.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Finding 1 — SQL Injection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840480" cy="182880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351129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TEST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3511296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DVWA security level: Low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A Boolean-style SQL injection payload was submitted in the local training module.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234440"/>
            <a:ext cx="6629400" cy="182880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362456"/>
            <a:ext cx="63002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OBSERVED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1764792"/>
            <a:ext cx="6300216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The response returned multiple user records rather than only the expected single record. This behaviour was consistent with SQL injection in the deliberately vulnerable lab.</a:t>
            </a:r>
          </a:p>
        </p:txBody>
      </p:sp>
      <p:pic>
        <p:nvPicPr>
          <p:cNvPr id="12" name="Picture 11" descr="04-SQLi-Baseline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29000"/>
            <a:ext cx="502920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87568"/>
            <a:ext cx="5029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35B"/>
                </a:solidFill>
                <a:latin typeface="Aptos"/>
              </a:defRPr>
            </a:pPr>
            <a:r>
              <a:t>Baseline request</a:t>
            </a:r>
          </a:p>
        </p:txBody>
      </p:sp>
      <p:pic>
        <p:nvPicPr>
          <p:cNvPr id="14" name="Picture 13" descr="05-SQLi-Confir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429000"/>
            <a:ext cx="502920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5687568"/>
            <a:ext cx="5029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35B"/>
                </a:solidFill>
                <a:latin typeface="Aptos"/>
              </a:defRPr>
            </a:pPr>
            <a:r>
              <a:t>Observed SQLi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3302A"/>
                </a:solidFill>
                <a:latin typeface="Aptos"/>
              </a:defRPr>
            </a:pPr>
            <a:r>
              <a:t>Risk: query logic may be altered, exposing records or bypassing intended filters. Fix with parameterized queries and least-privilege database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Finding 2 — Reflected XSS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794760" cy="182880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346557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TEST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3465576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A script payload was submitted through a reflected input in the local DVWA module.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234440"/>
            <a:ext cx="6720840" cy="182880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1362456"/>
            <a:ext cx="6391655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OBSERVED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1764792"/>
            <a:ext cx="6391655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The browser displayed a JavaScript alert after the request. Burp request/response evidence was also captured to connect the input with the application response.</a:t>
            </a:r>
          </a:p>
        </p:txBody>
      </p:sp>
      <p:pic>
        <p:nvPicPr>
          <p:cNvPr id="12" name="Picture 11" descr="06-Reflected-XSS-Confir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29000"/>
            <a:ext cx="502920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87568"/>
            <a:ext cx="5029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35B"/>
                </a:solidFill>
                <a:latin typeface="Aptos"/>
              </a:defRPr>
            </a:pPr>
            <a:r>
              <a:t>Browser confirmation</a:t>
            </a:r>
          </a:p>
        </p:txBody>
      </p:sp>
      <p:pic>
        <p:nvPicPr>
          <p:cNvPr id="14" name="Picture 13" descr="07-Reflected-XSS-Burp-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429000"/>
            <a:ext cx="502920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5687568"/>
            <a:ext cx="5029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35B"/>
                </a:solidFill>
                <a:latin typeface="Aptos"/>
              </a:defRPr>
            </a:pPr>
            <a:r>
              <a:t>Burp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3302A"/>
                </a:solidFill>
                <a:latin typeface="Aptos"/>
              </a:defRPr>
            </a:pPr>
            <a:r>
              <a:t>Risk: attacker-controlled script may execute in a victim’s browser. Context-aware output encoding and safe templating are primary defences.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Finding 3 — Stored XSS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794760" cy="182880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346557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TEST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3465576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A script payload was entered into the local guestbook form and stored by the training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234440"/>
            <a:ext cx="6720840" cy="182880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1362456"/>
            <a:ext cx="6391655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OBSERVED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1764792"/>
            <a:ext cx="6391655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The payload executed when the stored entry was rendered, and the related Burp request/response evidence was captured.</a:t>
            </a:r>
          </a:p>
        </p:txBody>
      </p:sp>
      <p:pic>
        <p:nvPicPr>
          <p:cNvPr id="12" name="Picture 11" descr="08-Stored-XSS-Confir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29000"/>
            <a:ext cx="502920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87568"/>
            <a:ext cx="5029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35B"/>
                </a:solidFill>
                <a:latin typeface="Aptos"/>
              </a:defRPr>
            </a:pPr>
            <a:r>
              <a:t>Browser confirmation</a:t>
            </a:r>
          </a:p>
        </p:txBody>
      </p:sp>
      <p:pic>
        <p:nvPicPr>
          <p:cNvPr id="14" name="Picture 13" descr="09-Stored-XSS-Burp-Request-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429000"/>
            <a:ext cx="502920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5687568"/>
            <a:ext cx="5029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35B"/>
                </a:solidFill>
                <a:latin typeface="Aptos"/>
              </a:defRPr>
            </a:pPr>
            <a:r>
              <a:t>Burp request/response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3302A"/>
                </a:solidFill>
                <a:latin typeface="Aptos"/>
              </a:defRPr>
            </a:pPr>
            <a:r>
              <a:t>Risk: stored content can affect every user who views it. Encode output by context, validate input, and avoid rendering untrusted content as HTML.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Intruder Configuration and Parameter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82880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INTRUDER POSITIONS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4928616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A username parameter was marked as an Intruder position. Evidence demonstrates configuration only; it does not claim a password-guessing attack was completed.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182880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PARAMETER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64792"/>
            <a:ext cx="4928616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A request parameter was changed from id=1 to id=2 in Repeater and a response was received. This is a test observation, not proof of broken access control.</a:t>
            </a:r>
          </a:p>
        </p:txBody>
      </p:sp>
      <p:pic>
        <p:nvPicPr>
          <p:cNvPr id="12" name="Picture 11" descr="10-Intruder-Po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29000"/>
            <a:ext cx="502920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87568"/>
            <a:ext cx="5029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35B"/>
                </a:solidFill>
                <a:latin typeface="Aptos"/>
              </a:defRPr>
            </a:pPr>
            <a:r>
              <a:t>Intruder position</a:t>
            </a:r>
          </a:p>
        </p:txBody>
      </p:sp>
      <p:pic>
        <p:nvPicPr>
          <p:cNvPr id="14" name="Picture 13" descr="11-Parameter-Tamp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429000"/>
            <a:ext cx="502920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5687568"/>
            <a:ext cx="5029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35B"/>
                </a:solidFill>
                <a:latin typeface="Aptos"/>
              </a:defRPr>
            </a:pPr>
            <a:r>
              <a:t>Parameter change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Endpoint Discovery and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12080" cy="1874519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488289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METHOD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4882896" cy="12161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Manual browsing and Burp Target site-map review were used to identify visible application routes. No directory brute-force results are claimed.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57800" cy="1874519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EVIDENCE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764792"/>
            <a:ext cx="4928616" cy="12161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Endpoint notes recorded discovered pages and potential areas for review. A discovered endpoint is not a confirmed security issue without further validation.</a:t>
            </a:r>
          </a:p>
        </p:txBody>
      </p:sp>
      <p:pic>
        <p:nvPicPr>
          <p:cNvPr id="12" name="Picture 11" descr="12-DVWA-Endpoint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74720"/>
            <a:ext cx="6400800" cy="2423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35240" y="3749039"/>
            <a:ext cx="3383280" cy="1645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3302A"/>
                </a:solidFill>
                <a:latin typeface="Aptos"/>
              </a:defRPr>
            </a:pPr>
            <a:r>
              <a:t>Next validation step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3302A"/>
                </a:solidFill>
                <a:latin typeface="Aptos"/>
              </a:defRPr>
            </a:pPr>
            <a:r>
              <a:t>Check authorization and input handling for each route using test accounts and controlled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Recommended Remediation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92024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SQL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4928616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Use parameterized queries / prepared statements.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Validate types and expected input ranges.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Restrict database account permissions.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192024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CROSS-SITE SCRIPTING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64792"/>
            <a:ext cx="4928616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Apply context-aware output encoding.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Sanitize rich text with a maintained allow-list.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Use a restrictive Content Security Policy as defence in depth.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20440"/>
            <a:ext cx="5257800" cy="192024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648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050791"/>
            <a:ext cx="4928616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Enforce authorization on the server for every object.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Do not trust client-supplied identifiers.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Test with separate users and expected permissions.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20440"/>
            <a:ext cx="5257800" cy="192024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648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BURP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050791"/>
            <a:ext cx="4928616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Save baseline and modified requests.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Compare status, headers, body, and application behaviour.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3302A"/>
                </a:solidFill>
                <a:latin typeface="Aptos"/>
              </a:defRPr>
            </a:pPr>
            <a:r>
              <a:t>• Keep session tokens and credentials out of shared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7694B"/>
                </a:solidFill>
                <a:latin typeface="Aptos"/>
              </a:defRPr>
            </a:pPr>
            <a:r>
              <a:t>Conclusion and 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10927080" cy="32004"/>
          </a:xfrm>
          <a:prstGeom prst="rect">
            <a:avLst/>
          </a:prstGeom>
          <a:solidFill>
            <a:srgbClr val="27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8961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35B"/>
                </a:solidFill>
                <a:latin typeface="Aptos"/>
              </a:defRPr>
            </a:pPr>
            <a:r>
              <a:t>DG Interns Hub | Cybersecurity Internship | 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7694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96596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KEY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4928616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3302A"/>
                </a:solidFill>
                <a:latin typeface="Aptos"/>
              </a:defRPr>
            </a:pPr>
            <a:r>
              <a:t>Three issues were demonstrated in the deliberately vulnerable local DVWA lab: SQL injection, reflected XSS, and stored XSS.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1965960"/>
          </a:xfrm>
          <a:prstGeom prst="roundRect">
            <a:avLst/>
          </a:prstGeom>
          <a:solidFill>
            <a:srgbClr val="F8FAF8"/>
          </a:solidFill>
          <a:ln>
            <a:solidFill>
              <a:srgbClr val="C7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62456"/>
            <a:ext cx="49286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7694B"/>
                </a:solidFill>
                <a:latin typeface="Aptos"/>
              </a:defRPr>
            </a:pPr>
            <a:r>
              <a:t>WHAT WAS PRACTISED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64792"/>
            <a:ext cx="4928616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3302A"/>
                </a:solidFill>
                <a:latin typeface="Aptos"/>
              </a:defRPr>
            </a:pPr>
            <a:r>
              <a:t>Proxy interception, HTTPS traffic review, site mapping, Repeater request modification, Intruder position setup, and evidence-based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7694B"/>
                </a:solidFill>
                <a:latin typeface="Aptos"/>
              </a:defRPr>
            </a:pPr>
            <a:r>
              <a:t>Limitations and responsible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1600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02A"/>
                </a:solidFill>
                <a:latin typeface="Aptos"/>
              </a:defRPr>
            </a:pPr>
            <a:r>
              <a:t>•  Results apply to the local DVWA configuration and should not be generalized to other applications.</a:t>
            </a:r>
          </a:p>
          <a:p>
            <a:pPr>
              <a:spcAft>
                <a:spcPts val="1200"/>
              </a:spcAft>
              <a:defRPr sz="1600">
                <a:solidFill>
                  <a:srgbClr val="23302A"/>
                </a:solidFill>
                <a:latin typeface="Aptos"/>
              </a:defRPr>
            </a:pPr>
            <a:r>
              <a:t>•  Intruder configuration and parameter modification were documented without overstating their security conclusions.</a:t>
            </a:r>
          </a:p>
          <a:p>
            <a:pPr>
              <a:spcAft>
                <a:spcPts val="1200"/>
              </a:spcAft>
              <a:defRPr sz="1600">
                <a:solidFill>
                  <a:srgbClr val="23302A"/>
                </a:solidFill>
                <a:latin typeface="Aptos"/>
              </a:defRPr>
            </a:pPr>
            <a:r>
              <a:t>•  All testing remained within the authorized training lab; sensitive session information should be redacted before sharing.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7694B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